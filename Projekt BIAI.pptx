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4"/>
  </p:notesMasterIdLst>
  <p:handoutMasterIdLst>
    <p:handoutMasterId r:id="rId15"/>
  </p:handoutMasterIdLst>
  <p:sldIdLst>
    <p:sldId id="257" r:id="rId5"/>
    <p:sldId id="389" r:id="rId6"/>
    <p:sldId id="392" r:id="rId7"/>
    <p:sldId id="321" r:id="rId8"/>
    <p:sldId id="270" r:id="rId9"/>
    <p:sldId id="384" r:id="rId10"/>
    <p:sldId id="393" r:id="rId11"/>
    <p:sldId id="281" r:id="rId12"/>
    <p:sldId id="391" r:id="rId13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olina" initials="K" lastIdx="1" clrIdx="0">
    <p:extLst>
      <p:ext uri="{19B8F6BF-5375-455C-9EA6-DF929625EA0E}">
        <p15:presenceInfo xmlns:p15="http://schemas.microsoft.com/office/powerpoint/2012/main" userId="Karoli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>
      <p:cViewPr varScale="1">
        <p:scale>
          <a:sx n="80" d="100"/>
          <a:sy n="80" d="100"/>
        </p:scale>
        <p:origin x="82" y="7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D4C38CF-67C2-4088-A2AD-522FD06E4E9F}" type="datetime1">
              <a:rPr lang="pl-PL" smtClean="0"/>
              <a:t>20.04.2026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FB94E0-1F98-4426-9482-6C6FD17970C3}" type="datetime1">
              <a:rPr lang="pl-PL" smtClean="0"/>
              <a:t>20.04.2026</a:t>
            </a:fld>
            <a:endParaRPr lang="pl-PL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l-PL" smtClean="0"/>
              <a:t>1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B1513CE-31DD-419A-8771-730D4114704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8DDCB5A-8DF3-4145-9175-339BBE145B1B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059F-8EB2-8B0C-93EF-4ACA1954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93E2DC41-8560-5FAD-D846-C3F6FC57A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741DEB38-EE15-75B6-714E-7CDEF6632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447F6FB6-B81B-36A9-1DD5-5E07BBB4A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l-PL" smtClean="0"/>
              <a:t>3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3DB47DC-F084-199E-F0AA-128D41D1005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8DDCB5A-8DF3-4145-9175-339BBE145B1B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3452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l-PL" smtClean="0"/>
              <a:t>4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C575042-9803-4365-98E6-7B269EDD9F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9B6E6-3E65-49C0-94CE-1A750F0F84E8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0892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l-PL" smtClean="0"/>
              <a:t>5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F04566-63C4-4E04-95F6-F236912A2F8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349161C6-02E6-4A51-9612-82E8932FCFC9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304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l-PL" smtClean="0"/>
              <a:t>6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B290639-4E92-4ED8-8D96-471111637F1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25DCC78-8463-444F-A0CF-2EABB296C18C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5D01-BBF1-F793-672E-5411D04C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1D9B9205-3A01-5755-0753-E3F97C891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2A2F693F-9BAD-D325-B84B-D11D1B429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1B6607CB-C65F-DF62-ED58-65B536038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l-PL" smtClean="0"/>
              <a:t>7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FA99264-9C59-A8B5-F28A-6963BAC102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25DCC78-8463-444F-A0CF-2EABB296C18C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2950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7CCE34D-CFF1-4FFE-815B-D050E7ED2DFD}" type="slidenum">
              <a:rPr lang="pl-PL" smtClean="0"/>
              <a:t>8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4891A17-6249-461C-B075-652AEA2598D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0CE26397-7EB8-4E6D-9388-C37617315B24}" type="datetime1">
              <a:rPr lang="pl-PL" smtClean="0"/>
              <a:t>20.04.2026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80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l-PL" sz="4800"/>
              <a:t>3DFloat</a:t>
            </a:r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Dowolny kształt: Kształt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1" name="Ow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l-PL"/>
              <a:t>Kliknij, aby dodać tytuł</a:t>
            </a:r>
          </a:p>
        </p:txBody>
      </p:sp>
      <p:sp>
        <p:nvSpPr>
          <p:cNvPr id="7" name="Zawartość — symbol zastępczy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l-PL" sz="1600"/>
              <a:t>Kliknij, aby dodać tekst</a:t>
            </a:r>
          </a:p>
        </p:txBody>
      </p:sp>
      <p:sp>
        <p:nvSpPr>
          <p:cNvPr id="17" name="Obraz — symbol zastępczy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22" name="Obraz — symbol zastępczy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25" name="Obraz — symbol zastępczy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grpSp>
        <p:nvGrpSpPr>
          <p:cNvPr id="10" name="Grupa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Dowolny kształt: Kształt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stę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ytuł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12" name="Obraz — symbol zastępczy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18" name="Obraz — symbol zastępczy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19" name="Obraz — symbol zastępczy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20" name="Obraz — symbol zastępczy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Zawartość — symbol zastępczy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odział sekcj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raz — symbol zastępczy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16" name="Podtytuł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l-PL">
                <a:solidFill>
                  <a:schemeClr val="tx1">
                    <a:alpha val="60000"/>
                  </a:schemeClr>
                </a:solidFill>
              </a:rPr>
              <a:t>Kliknij, aby edytować styl wzorca podtytułu</a:t>
            </a:r>
            <a:endParaRPr lang="pl-PL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odział sekcj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raz — symbol zastępczy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16" name="Podtytuł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l-PL">
                <a:solidFill>
                  <a:schemeClr val="tx1">
                    <a:alpha val="60000"/>
                  </a:schemeClr>
                </a:solidFill>
              </a:rPr>
              <a:t>Kliknij, aby edytować styl wzorca podtytułu</a:t>
            </a:r>
            <a:endParaRPr lang="pl-PL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l-PL"/>
              <a:t>Kliknij, aby edytować styl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Oś czasu tabeli wykresó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a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Dowolny kształt: Kształt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5" name="Ow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6" name="Dowolny kształt: Kształt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l-PL" dirty="0"/>
            </a:lvl1pPr>
          </a:lstStyle>
          <a:p>
            <a:pPr lvl="0" rtl="0">
              <a:lnSpc>
                <a:spcPct val="100000"/>
              </a:lnSpc>
            </a:pPr>
            <a:r>
              <a:rPr lang="pl-PL"/>
              <a:t>Kliknij, aby edytować styl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grpSp>
        <p:nvGrpSpPr>
          <p:cNvPr id="8" name="Grupa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Dowolny kształt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0" name="Dowolny kształt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1" name="Dowolny kształt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12" name="Ow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17" name="Zawartość — symbol zastępczy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15" name="Obraz — symbol zastępczy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tokąt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l-PL"/>
          </a:p>
        </p:txBody>
      </p:sp>
      <p:sp>
        <p:nvSpPr>
          <p:cNvPr id="34" name="Ow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40" name="Tytuł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l-PL"/>
              <a:t>Zespół</a:t>
            </a:r>
          </a:p>
        </p:txBody>
      </p:sp>
      <p:grpSp>
        <p:nvGrpSpPr>
          <p:cNvPr id="51" name="Grupa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Dowolny kształt: Kształt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53" name="Dowolny kształt: Kształt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54" name="Ow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55" name="Ow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56" name="Obraz — symbol zastępczy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57" name="Obraz — symbol zastępczy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58" name="Obraz — symbol zastępczy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59" name="Obraz — symbol zastępczy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63" name="Tekst — symbol zastępczy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-PL"/>
              <a:t>Imię i nazwisko</a:t>
            </a:r>
          </a:p>
        </p:txBody>
      </p:sp>
      <p:sp>
        <p:nvSpPr>
          <p:cNvPr id="61" name="Tekst — symbol zastępczy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-PL"/>
              <a:t>Tytuł</a:t>
            </a:r>
          </a:p>
        </p:txBody>
      </p:sp>
      <p:sp>
        <p:nvSpPr>
          <p:cNvPr id="65" name="Tekst — symbol zastępczy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-PL"/>
              <a:t>Imię i nazwisko</a:t>
            </a:r>
          </a:p>
        </p:txBody>
      </p:sp>
      <p:sp>
        <p:nvSpPr>
          <p:cNvPr id="64" name="Tekst — symbol zastępczy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-PL"/>
              <a:t>Tytuł</a:t>
            </a:r>
          </a:p>
        </p:txBody>
      </p:sp>
      <p:sp>
        <p:nvSpPr>
          <p:cNvPr id="67" name="Tekst — symbol zastępczy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-PL"/>
              <a:t>Imię i nazwisko</a:t>
            </a:r>
          </a:p>
        </p:txBody>
      </p:sp>
      <p:sp>
        <p:nvSpPr>
          <p:cNvPr id="66" name="Tekst — symbol zastępczy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-PL"/>
              <a:t>Tytuł</a:t>
            </a:r>
          </a:p>
        </p:txBody>
      </p:sp>
      <p:sp>
        <p:nvSpPr>
          <p:cNvPr id="69" name="Tekst — symbol zastępczy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-PL"/>
              <a:t>Imię i nazwisko</a:t>
            </a:r>
          </a:p>
        </p:txBody>
      </p:sp>
      <p:sp>
        <p:nvSpPr>
          <p:cNvPr id="68" name="Tekst — symbol zastępczy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-PL"/>
              <a:t>Tytuł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Kolumna zawartości 2 (slajd porównan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w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l-PL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l-PL"/>
              <a:t>Kliknij, aby edytować styl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l-PL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l-PL"/>
              <a:t>Kliknij, aby edytować style wzorca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a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Dowolny kształt: Kształt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 dirty="0"/>
            </a:p>
          </p:txBody>
        </p:sp>
        <p:sp>
          <p:nvSpPr>
            <p:cNvPr id="36" name="Dowolny kształt: Kształt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7" name="Ow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38" name="Ow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19" name="Dowolny kształt: Kształt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l-PL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l-PL"/>
              <a:t>Kliknij, aby edytować styl</a:t>
            </a:r>
          </a:p>
        </p:txBody>
      </p:sp>
      <p:sp>
        <p:nvSpPr>
          <p:cNvPr id="16" name="Tekst — symbol zastępczy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17" name="Zawartość — symbol zastępczy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22" name="Tekst — symbol zastępczy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l-PL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l-PL"/>
              <a:t>Kliknij, aby edytować style wzorca tekstu</a:t>
            </a:r>
          </a:p>
        </p:txBody>
      </p:sp>
      <p:sp>
        <p:nvSpPr>
          <p:cNvPr id="23" name="Zawartość — symbol zastępczy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l-PL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l-PL"/>
              <a:t>Kliknij, aby EDYTOWAĆ</a:t>
            </a:r>
          </a:p>
        </p:txBody>
      </p:sp>
      <p:sp>
        <p:nvSpPr>
          <p:cNvPr id="21" name="Zawartość — symbol zastępczy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l-PL"/>
              <a:t>Kliknij, aby edytować styl</a:t>
            </a:r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Zamkni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ytuł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1" name="Podtytuł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l-PL">
                <a:solidFill>
                  <a:schemeClr val="tx1">
                    <a:alpha val="60000"/>
                  </a:schemeClr>
                </a:solidFill>
              </a:rPr>
              <a:t>Kliknij, aby edytować styl wzorca podtytułu</a:t>
            </a:r>
            <a:endParaRPr lang="pl-PL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Obraz — symbol zastępczy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42" name="Obraz — symbol zastępczy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l-PL"/>
              <a:t>Kliknij ikonę, aby dodać obraz</a:t>
            </a:r>
          </a:p>
        </p:txBody>
      </p:sp>
      <p:grpSp>
        <p:nvGrpSpPr>
          <p:cNvPr id="43" name="Grupa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Dowolny kształt: Kształt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45" name="Ow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46" name="Dowolny kształt: Kształt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l-PL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Dowolny kształt: Kształt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/>
              <a:t>Kliknij, aby edytować styl wzorca podtytułu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  <p:sp>
        <p:nvSpPr>
          <p:cNvPr id="19" name="Dowolny kształt: Kształt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grpSp>
        <p:nvGrpSpPr>
          <p:cNvPr id="34" name="Grupa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Dowolny kształt: Kształt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 dirty="0"/>
            </a:p>
          </p:txBody>
        </p:sp>
        <p:sp>
          <p:nvSpPr>
            <p:cNvPr id="36" name="Dowolny kształt: Kształt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37" name="Ow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38" name="Ow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w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  <p:grpSp>
        <p:nvGrpSpPr>
          <p:cNvPr id="13" name="Grupa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Dowolny kształt: Kształt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Dowolny kształt: Kształt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l-PL"/>
              <a:t>Kliknij, aby edytować style wzorca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/>
              <a:t>Kliknij, aby edytować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l-PL" dirty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l-PL"/>
              <a:t>Wtorek, 2 lutego 20XX</a:t>
            </a:r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l-PL"/>
              <a:t>Przykładowy tekst stopki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l-PL" sz="4800" kern="1200" dirty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l-PL" dirty="0"/>
              <a:t>Projekt BIAI</a:t>
            </a:r>
          </a:p>
        </p:txBody>
      </p:sp>
      <p:pic>
        <p:nvPicPr>
          <p:cNvPr id="14" name="Obraz — symbol zastępczy 13" descr="Cyfrowe tło punktów danych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Podtytuł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   Kajetan </a:t>
            </a:r>
            <a:r>
              <a:rPr lang="pl-PL" dirty="0" err="1"/>
              <a:t>Hołdan</a:t>
            </a:r>
            <a:br>
              <a:rPr lang="pl-PL" dirty="0"/>
            </a:br>
            <a:r>
              <a:rPr lang="pl-PL" dirty="0"/>
              <a:t>Karolina Kucab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2" y="518984"/>
            <a:ext cx="4764086" cy="1997855"/>
          </a:xfrm>
        </p:spPr>
        <p:txBody>
          <a:bodyPr rtlCol="0"/>
          <a:lstStyle/>
          <a:p>
            <a:pPr algn="ctr" rtl="0"/>
            <a:r>
              <a:rPr lang="pl-PL" sz="3600" dirty="0"/>
              <a:t>ROZPIS OMAWIANIA PROJEKTU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D3B60D6F-4D0F-4D33-B2A7-159C8583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3897312" cy="3415519"/>
          </a:xfrm>
        </p:spPr>
        <p:txBody>
          <a:bodyPr rtlCol="0"/>
          <a:lstStyle/>
          <a:p>
            <a:pPr rtl="0"/>
            <a:r>
              <a:rPr lang="pl-PL" dirty="0"/>
              <a:t>Temat pierwszy:  Optymalizacja    zagadnienia przydziału</a:t>
            </a:r>
          </a:p>
          <a:p>
            <a:pPr rtl="0"/>
            <a:r>
              <a:rPr lang="pl-PL" dirty="0"/>
              <a:t>Temat drugi: </a:t>
            </a:r>
          </a:p>
          <a:p>
            <a:pPr rtl="0"/>
            <a:r>
              <a:rPr lang="pl-PL" dirty="0"/>
              <a:t>Temat trzeci</a:t>
            </a:r>
          </a:p>
          <a:p>
            <a:pPr rtl="0"/>
            <a:r>
              <a:rPr lang="pl-PL" dirty="0"/>
              <a:t>Temat czwarty</a:t>
            </a:r>
          </a:p>
          <a:p>
            <a:pPr rtl="0"/>
            <a:r>
              <a:rPr lang="pl-PL" dirty="0"/>
              <a:t>Temat piąty</a:t>
            </a:r>
          </a:p>
          <a:p>
            <a:pPr rtl="0"/>
            <a:endParaRPr lang="pl-PL" dirty="0"/>
          </a:p>
        </p:txBody>
      </p:sp>
      <p:pic>
        <p:nvPicPr>
          <p:cNvPr id="8" name="Obraz — symbol zastępczy 7" descr="Dane cyfrowe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Obraz — symbol zastępczy 9" descr="Punkty danych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Obraz — symbol zastępczy 11" descr="Tło danych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B9AC-9DF2-E765-CF78-A70CB7D3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AFA300-B4C9-675B-5649-2EAD9B65B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5886" y="523875"/>
            <a:ext cx="4112578" cy="2674449"/>
          </a:xfrm>
        </p:spPr>
        <p:txBody>
          <a:bodyPr rtlCol="0" anchor="b" anchorCtr="0">
            <a:normAutofit/>
          </a:bodyPr>
          <a:lstStyle/>
          <a:p>
            <a:pPr algn="ctr" rtl="0"/>
            <a:r>
              <a:rPr lang="pl-PL" sz="3200" dirty="0"/>
              <a:t>Optymalizacja Zagadnienia Przydziału za pomocą algorytmu generycznego</a:t>
            </a:r>
          </a:p>
        </p:txBody>
      </p:sp>
      <p:pic>
        <p:nvPicPr>
          <p:cNvPr id="14" name="Obraz — symbol zastępczy 13" descr="Cyfrowe tło punktów danych">
            <a:extLst>
              <a:ext uri="{FF2B5EF4-FFF2-40B4-BE49-F238E27FC236}">
                <a16:creationId xmlns:a16="http://schemas.microsoft.com/office/drawing/2014/main" id="{F4AD46C0-D8FC-2B80-6DAC-121C3C700D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Podtytuł 2">
            <a:extLst>
              <a:ext uri="{FF2B5EF4-FFF2-40B4-BE49-F238E27FC236}">
                <a16:creationId xmlns:a16="http://schemas.microsoft.com/office/drawing/2014/main" id="{1852D51A-0F36-54E0-090F-F8F0E550A0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36377" y="3659677"/>
            <a:ext cx="4002087" cy="1731963"/>
          </a:xfrm>
        </p:spPr>
        <p:txBody>
          <a:bodyPr rtlCol="0">
            <a:normAutofit/>
          </a:bodyPr>
          <a:lstStyle/>
          <a:p>
            <a:pPr algn="ctr" rtl="0"/>
            <a:r>
              <a:rPr lang="pl-PL" dirty="0"/>
              <a:t>   Problem: Przypisanie n zadań do n wykonawców tak, aby zminimalizować łączny koszt wykonania wszystkich zadań.</a:t>
            </a:r>
          </a:p>
        </p:txBody>
      </p:sp>
    </p:spTree>
    <p:extLst>
      <p:ext uri="{BB962C8B-B14F-4D97-AF65-F5344CB8AC3E}">
        <p14:creationId xmlns:p14="http://schemas.microsoft.com/office/powerpoint/2010/main" val="274159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tuł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rtlCol="0"/>
          <a:lstStyle/>
          <a:p>
            <a:pPr rtl="0"/>
            <a:r>
              <a:rPr lang="pl-PL" dirty="0"/>
              <a:t>Opis Problemu </a:t>
            </a:r>
          </a:p>
        </p:txBody>
      </p:sp>
      <p:pic>
        <p:nvPicPr>
          <p:cNvPr id="16" name="Obraz — symbol zastępczy 15" descr="Cyfrowe tło punktów danych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3776472"/>
          </a:xfrm>
        </p:spPr>
      </p:pic>
      <p:sp>
        <p:nvSpPr>
          <p:cNvPr id="13" name="Zawartość — symbol zastępczy 12">
            <a:extLst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857750" y="4508500"/>
            <a:ext cx="7048500" cy="2067398"/>
          </a:xfrm>
        </p:spPr>
        <p:txBody>
          <a:bodyPr rtlCol="0">
            <a:normAutofit lnSpcReduction="10000"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l-PL" sz="1700" dirty="0"/>
              <a:t>Dane wejściowe: Macierz kosztów </a:t>
            </a:r>
            <a:r>
              <a:rPr lang="pl-PL" sz="1700" i="1" dirty="0"/>
              <a:t>k(i, j)</a:t>
            </a:r>
            <a:r>
              <a:rPr lang="pl-PL" sz="1700" dirty="0"/>
              <a:t>, gdzie </a:t>
            </a:r>
            <a:r>
              <a:rPr lang="pl-PL" sz="1700" i="1" dirty="0"/>
              <a:t>i</a:t>
            </a:r>
            <a:r>
              <a:rPr lang="pl-PL" sz="1700" dirty="0"/>
              <a:t> to zadanie, a </a:t>
            </a:r>
            <a:r>
              <a:rPr lang="pl-PL" sz="1700" i="1" dirty="0"/>
              <a:t>j</a:t>
            </a:r>
            <a:r>
              <a:rPr lang="pl-PL" sz="1700" dirty="0"/>
              <a:t> to wykonawca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l-PL" sz="1700" dirty="0"/>
              <a:t>Ograniczenia: Każde zadanie musi mieć dokładnie jednego wykonawcę, a każdy wykonawca dokładnie jedno zadanie (relacja 1:1)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l-PL" sz="1700" dirty="0"/>
              <a:t>Cel: Minimalizacja funkcji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l-PL" sz="1700" dirty="0"/>
              <a:t>Instancja: Macierz 10x10 generowana losowo (wartość 1-50) 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4</a:t>
            </a:fld>
            <a:endParaRPr lang="pl-PL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CE1A584E-B029-A8FE-0E31-C0436FFD6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102" y="5642774"/>
            <a:ext cx="1467055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6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a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Dowolny kształt: Kształt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  <p:sp>
          <p:nvSpPr>
            <p:cNvPr id="27" name="Ow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l-PL"/>
            </a:p>
          </p:txBody>
        </p:sp>
      </p:grpSp>
      <p:sp>
        <p:nvSpPr>
          <p:cNvPr id="7" name="Tytuł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algn="ctr" rtl="0"/>
            <a:r>
              <a:rPr lang="pl-PL" dirty="0"/>
              <a:t>Konfiguracja Algorytmu Generycznego </a:t>
            </a:r>
            <a:br>
              <a:rPr lang="pl-PL" dirty="0"/>
            </a:br>
            <a:r>
              <a:rPr lang="pl-PL" dirty="0"/>
              <a:t>(Biblioteka </a:t>
            </a:r>
            <a:r>
              <a:rPr lang="pl-PL" dirty="0" err="1"/>
              <a:t>PyGAD</a:t>
            </a:r>
            <a:r>
              <a:rPr lang="pl-PL" dirty="0"/>
              <a:t>)</a:t>
            </a:r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019300"/>
            <a:ext cx="10793412" cy="4733925"/>
          </a:xfrm>
        </p:spPr>
        <p:txBody>
          <a:bodyPr rtlCol="0"/>
          <a:lstStyle/>
          <a:p>
            <a:pPr rtl="0"/>
            <a:r>
              <a:rPr lang="pl-PL" dirty="0"/>
              <a:t>Kodowanie (Chromosom): Lista 10 genów, gdzie indeks to zadanie, a wartość to wykonawca.</a:t>
            </a:r>
          </a:p>
          <a:p>
            <a:pPr rtl="0"/>
            <a:r>
              <a:rPr lang="pl-PL" dirty="0"/>
              <a:t>Funkcja Fitness: Odwrotność sumy kosztów (Fitness = 1/Koszt), ponieważ </a:t>
            </a:r>
            <a:r>
              <a:rPr lang="pl-PL" dirty="0" err="1"/>
              <a:t>PyGAD</a:t>
            </a:r>
            <a:r>
              <a:rPr lang="pl-PL" dirty="0"/>
              <a:t> domyślnie maksymalizuje dopasowanie.</a:t>
            </a:r>
          </a:p>
          <a:p>
            <a:pPr rtl="0"/>
            <a:r>
              <a:rPr lang="pl-PL" dirty="0"/>
              <a:t>Operator Krzyżowania: Single Point </a:t>
            </a:r>
            <a:r>
              <a:rPr lang="pl-PL" dirty="0" err="1"/>
              <a:t>Crossover</a:t>
            </a:r>
            <a:endParaRPr lang="pl-PL" dirty="0"/>
          </a:p>
          <a:p>
            <a:pPr rtl="0"/>
            <a:r>
              <a:rPr lang="pl-PL" dirty="0"/>
              <a:t>Operator Mutacji: </a:t>
            </a:r>
            <a:r>
              <a:rPr lang="pl-PL" dirty="0" err="1"/>
              <a:t>Swap</a:t>
            </a:r>
            <a:r>
              <a:rPr lang="pl-PL" dirty="0"/>
              <a:t> </a:t>
            </a:r>
            <a:r>
              <a:rPr lang="pl-PL" dirty="0" err="1"/>
              <a:t>Mutation</a:t>
            </a:r>
            <a:r>
              <a:rPr lang="pl-PL" dirty="0"/>
              <a:t> – kluczowy dla zachowania poprawności przydziału (zmiana genów miejscami zapobiega przypisaniu jednego wykonawcy do dwóch zadań).</a:t>
            </a:r>
          </a:p>
          <a:p>
            <a:pPr rtl="0"/>
            <a:r>
              <a:rPr lang="pl-PL" dirty="0"/>
              <a:t>Parametry: 200 pokoleń, populacja 50 osobników, prawdopodobieństwo mutacji 0.1</a:t>
            </a:r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5</a:t>
            </a:fld>
            <a:endParaRPr lang="pl-PL"/>
          </a:p>
        </p:txBody>
      </p:sp>
      <p:sp>
        <p:nvSpPr>
          <p:cNvPr id="22" name="Dowolny kształt: Kształt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134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tuł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3" y="4713676"/>
            <a:ext cx="4500562" cy="1562959"/>
          </a:xfrm>
        </p:spPr>
        <p:txBody>
          <a:bodyPr rtlCol="0"/>
          <a:lstStyle/>
          <a:p>
            <a:pPr algn="ctr" rtl="0"/>
            <a:r>
              <a:rPr lang="pl-PL" dirty="0"/>
              <a:t>Analiza Wyników</a:t>
            </a:r>
            <a:br>
              <a:rPr lang="pl-PL" dirty="0"/>
            </a:br>
            <a:r>
              <a:rPr lang="pl-PL" dirty="0"/>
              <a:t>Zbieżność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6</a:t>
            </a:fld>
            <a:endParaRPr lang="pl-PL"/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18075" y="4575175"/>
            <a:ext cx="7273924" cy="2152600"/>
          </a:xfrm>
          <a:noFill/>
        </p:spPr>
        <p:txBody>
          <a:bodyPr rtlCol="0">
            <a:noAutofit/>
          </a:bodyPr>
          <a:lstStyle/>
          <a:p>
            <a:pPr rtl="0"/>
            <a:r>
              <a:rPr lang="pl-PL" sz="1450" dirty="0"/>
              <a:t>Wykres 1 (Fitness): Pokazuje szybki wzrost dopasowania w pierwszej fazie (do 15 pokolenia)</a:t>
            </a:r>
          </a:p>
          <a:p>
            <a:pPr rtl="0"/>
            <a:r>
              <a:rPr lang="pl-PL" sz="1450" dirty="0"/>
              <a:t>Wykres 2 (Koszt całkowity): Wizualizuje realny spadek kosztów. Algorytm utknął utknięcia w minimach lokalnych i szybko znalazł stabilne rozwiązanie na poziomie około 75.0</a:t>
            </a:r>
          </a:p>
          <a:p>
            <a:pPr rtl="0"/>
            <a:r>
              <a:rPr lang="pl-PL" sz="1450" dirty="0"/>
              <a:t>Wniosek: Algorytm genetyczny przeszukał tylko ułamek ogromnej przestrzeni rozwiązań, uzyskując wynik bliki optymalnemu.</a:t>
            </a:r>
          </a:p>
        </p:txBody>
      </p:sp>
      <p:pic>
        <p:nvPicPr>
          <p:cNvPr id="28" name="Symbol zastępczy obrazu 27">
            <a:extLst>
              <a:ext uri="{FF2B5EF4-FFF2-40B4-BE49-F238E27FC236}">
                <a16:creationId xmlns:a16="http://schemas.microsoft.com/office/drawing/2014/main" id="{E1469E5C-5E56-E72F-09FF-4D3F60BA6D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-23779" r="-23779"/>
          <a:stretch>
            <a:fillRect/>
          </a:stretch>
        </p:blipFill>
        <p:spPr>
          <a:xfrm>
            <a:off x="0" y="0"/>
            <a:ext cx="12192000" cy="4419600"/>
          </a:xfrm>
        </p:spPr>
      </p:pic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74E6-6A5B-7B45-D517-DA518402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tuł 10">
            <a:extLst>
              <a:ext uri="{FF2B5EF4-FFF2-40B4-BE49-F238E27FC236}">
                <a16:creationId xmlns:a16="http://schemas.microsoft.com/office/drawing/2014/main" id="{EAB4D0BD-AF46-87E8-BBDF-C705406A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3" y="4713676"/>
            <a:ext cx="4500562" cy="2014099"/>
          </a:xfrm>
        </p:spPr>
        <p:txBody>
          <a:bodyPr rtlCol="0"/>
          <a:lstStyle/>
          <a:p>
            <a:pPr algn="ctr" rtl="0"/>
            <a:r>
              <a:rPr lang="pl-PL" dirty="0"/>
              <a:t>Wizualizacja Rozwiązania (</a:t>
            </a:r>
            <a:r>
              <a:rPr lang="pl-PL" dirty="0" err="1"/>
              <a:t>Heatmapa</a:t>
            </a:r>
            <a:r>
              <a:rPr lang="pl-PL" dirty="0"/>
              <a:t>)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6D2A3B7-016D-6DE6-C85A-9CF101A5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7</a:t>
            </a:fld>
            <a:endParaRPr lang="pl-PL"/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38A2F56F-EC3F-4C7A-291B-CB21E470EEA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9475" y="4575175"/>
            <a:ext cx="7273924" cy="2152600"/>
          </a:xfrm>
          <a:noFill/>
        </p:spPr>
        <p:txBody>
          <a:bodyPr rtlCol="0">
            <a:noAutofit/>
          </a:bodyPr>
          <a:lstStyle/>
          <a:p>
            <a:pPr rtl="0"/>
            <a:r>
              <a:rPr lang="pl-PL" sz="1450" dirty="0"/>
              <a:t>Interpretacja: Czerwone ramki „X” pokazują wybrane przez algorytm pary (Zadanie, Wykonawca)</a:t>
            </a:r>
          </a:p>
          <a:p>
            <a:pPr rtl="0"/>
            <a:r>
              <a:rPr lang="pl-PL" sz="1450" dirty="0"/>
              <a:t>Skuteczność: Można zauważyć, że algorytm konsekwentnie wybiera pola w kolorze jasnożółtym, co odpowiada najniższym wartościom w macierzy kosztów.</a:t>
            </a:r>
          </a:p>
          <a:p>
            <a:pPr rtl="0"/>
            <a:r>
              <a:rPr lang="pl-PL" sz="1450" dirty="0"/>
              <a:t>Weryfikacja: Rozwiązanie jest poprawną permutacją – w żadnej kolumnie ani wierszu nie ma więcej niż jednego zaznaczenia</a:t>
            </a:r>
          </a:p>
        </p:txBody>
      </p:sp>
      <p:pic>
        <p:nvPicPr>
          <p:cNvPr id="28" name="Symbol zastępczy obrazu 27">
            <a:extLst>
              <a:ext uri="{FF2B5EF4-FFF2-40B4-BE49-F238E27FC236}">
                <a16:creationId xmlns:a16="http://schemas.microsoft.com/office/drawing/2014/main" id="{8879A36B-23F4-CFF5-F8FE-789B747DFD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-23779" r="-23779"/>
          <a:stretch>
            <a:fillRect/>
          </a:stretch>
        </p:blipFill>
        <p:spPr>
          <a:xfrm>
            <a:off x="0" y="0"/>
            <a:ext cx="12192000" cy="4419600"/>
          </a:xfrm>
        </p:spPr>
      </p:pic>
    </p:spTree>
    <p:extLst>
      <p:ext uri="{BB962C8B-B14F-4D97-AF65-F5344CB8AC3E}">
        <p14:creationId xmlns:p14="http://schemas.microsoft.com/office/powerpoint/2010/main" val="322497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>
            <a:extLst>
              <a:ext uri="{FF2B5EF4-FFF2-40B4-BE49-F238E27FC236}">
                <a16:creationId xmlns:a16="http://schemas.microsoft.com/office/drawing/2014/main" id="{47788B34-4190-4916-9048-47720EA5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/>
          <a:lstStyle/>
          <a:p>
            <a:pPr rtl="0"/>
            <a:r>
              <a:rPr lang="pl-PL"/>
              <a:t>Zawartość 2 </a:t>
            </a:r>
          </a:p>
        </p:txBody>
      </p:sp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ABA415A0-3B77-43FB-A408-5F1DA4B0A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/>
          <a:lstStyle/>
          <a:p>
            <a:pPr rtl="0"/>
            <a:r>
              <a:rPr lang="pl-PL"/>
              <a:t>Podtytuł</a:t>
            </a:r>
          </a:p>
        </p:txBody>
      </p:sp>
      <p:sp>
        <p:nvSpPr>
          <p:cNvPr id="9" name="Zawartość — symbol zastępczy 8">
            <a:extLst>
              <a:ext uri="{FF2B5EF4-FFF2-40B4-BE49-F238E27FC236}">
                <a16:creationId xmlns:a16="http://schemas.microsoft.com/office/drawing/2014/main" id="{8598ECEC-4413-4244-8F21-0076EC511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rmAutofit fontScale="92500" lnSpcReduction="10000"/>
          </a:bodyPr>
          <a:lstStyle/>
          <a:p>
            <a:pPr lvl="0" rtl="0"/>
            <a:r>
              <a:rPr lang="pl-PL" sz="1600" dirty="0"/>
              <a:t>Dodaj tekst, obrazy, grafiki i klipy wideo. </a:t>
            </a:r>
          </a:p>
          <a:p>
            <a:pPr lvl="0" rtl="0"/>
            <a:r>
              <a:rPr lang="pl-PL" sz="1600" dirty="0"/>
              <a:t>Dodaj przejścia, animacje i ruch. </a:t>
            </a:r>
          </a:p>
          <a:p>
            <a:pPr lvl="0" rtl="0"/>
            <a:r>
              <a:rPr lang="pl-PL" sz="1600" dirty="0"/>
              <a:t>Zapisuj prezentacje w usłudze OneDrive, aby uzyskać do nich dostęp z komputera, tabletu lub telefonu. </a:t>
            </a:r>
          </a:p>
          <a:p>
            <a:pPr rtl="0"/>
            <a:r>
              <a:rPr lang="pl-PL" sz="1600" dirty="0"/>
              <a:t>Otwórz okienko Pomysły dotyczące projektu, aby korzystać z błyskawicznych przeobrażeń slajdów. </a:t>
            </a:r>
          </a:p>
          <a:p>
            <a:pPr rtl="0"/>
            <a:r>
              <a:rPr lang="pl-PL" sz="1600" dirty="0"/>
              <a:t>W tym miejscu będziemy przedstawiać nasze pomysły projektowe. </a:t>
            </a:r>
          </a:p>
          <a:p>
            <a:pPr lvl="0" rtl="0"/>
            <a:endParaRPr lang="pl-PL" sz="1600" dirty="0"/>
          </a:p>
          <a:p>
            <a:pPr rtl="0"/>
            <a:endParaRPr lang="pl-PL" sz="1600" dirty="0"/>
          </a:p>
        </p:txBody>
      </p:sp>
      <p:sp>
        <p:nvSpPr>
          <p:cNvPr id="12" name="Tekst — symbol zastępczy 11">
            <a:extLst>
              <a:ext uri="{FF2B5EF4-FFF2-40B4-BE49-F238E27FC236}">
                <a16:creationId xmlns:a16="http://schemas.microsoft.com/office/drawing/2014/main" id="{3A63626D-0E6E-4023-ABFC-A744C98621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rtlCol="0"/>
          <a:lstStyle/>
          <a:p>
            <a:pPr rtl="0"/>
            <a:r>
              <a:rPr lang="pl-PL"/>
              <a:t>podtytuł</a:t>
            </a:r>
          </a:p>
        </p:txBody>
      </p:sp>
      <p:sp>
        <p:nvSpPr>
          <p:cNvPr id="13" name="Zawartość — symbol zastępczy 12">
            <a:extLst>
              <a:ext uri="{FF2B5EF4-FFF2-40B4-BE49-F238E27FC236}">
                <a16:creationId xmlns:a16="http://schemas.microsoft.com/office/drawing/2014/main" id="{258E9390-685C-4BAD-BFAD-EC56E81C4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/>
          <a:p>
            <a:pPr lvl="0" rtl="0"/>
            <a:r>
              <a:rPr lang="pl-PL" sz="1600"/>
              <a:t>Dodaj tekst, obrazy, grafiki i klipy wideo. </a:t>
            </a:r>
          </a:p>
          <a:p>
            <a:pPr lvl="0" rtl="0"/>
            <a:r>
              <a:rPr lang="pl-PL" sz="1600"/>
              <a:t>Dodaj przejścia, animacje i ruch. </a:t>
            </a:r>
          </a:p>
          <a:p>
            <a:pPr lvl="0" rtl="0"/>
            <a:r>
              <a:rPr lang="pl-PL" sz="1600"/>
              <a:t>Zapisuj prezentacje w usłudze OneDrive, aby uzyskać do nich dostęp z komputera, tabletu lub telefonu. </a:t>
            </a:r>
          </a:p>
          <a:p>
            <a:pPr rtl="0"/>
            <a:r>
              <a:rPr lang="pl-PL" sz="1600"/>
              <a:t>Otwórz okienko Pomysły dotyczące projektu, aby korzystać z błyskawicznych przeobrażeń slajdów. </a:t>
            </a:r>
          </a:p>
          <a:p>
            <a:pPr rtl="0"/>
            <a:r>
              <a:rPr lang="pl-PL" sz="1600"/>
              <a:t>W tym miejscu będziemy przedstawiać nasze pomysły projektowe.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34A9BC34-CFDB-4D7A-8D6C-1CE608D09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39659" y="1731375"/>
            <a:ext cx="3566160" cy="535354"/>
          </a:xfrm>
        </p:spPr>
        <p:txBody>
          <a:bodyPr rtlCol="0"/>
          <a:lstStyle/>
          <a:p>
            <a:pPr rtl="0"/>
            <a:r>
              <a:rPr lang="pl-PL"/>
              <a:t>podtytuł</a:t>
            </a:r>
            <a:endParaRPr lang="pl-PL" dirty="0"/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1D014E48-5DD9-49CE-AD5B-0FEF69204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/>
          <a:p>
            <a:pPr lvl="0" rtl="0"/>
            <a:r>
              <a:rPr lang="pl-PL" sz="1600"/>
              <a:t>Dodaj tekst, obrazy, grafiki i klipy wideo. </a:t>
            </a:r>
          </a:p>
          <a:p>
            <a:pPr lvl="0" rtl="0"/>
            <a:r>
              <a:rPr lang="pl-PL" sz="1600"/>
              <a:t>Dodaj przejścia, animacje i ruch. </a:t>
            </a:r>
          </a:p>
          <a:p>
            <a:pPr lvl="0" rtl="0"/>
            <a:r>
              <a:rPr lang="pl-PL" sz="1600"/>
              <a:t>Zapisuj prezentacje w usłudze OneDrive, aby uzyskać do nich dostęp z komputera, tabletu lub telefonu. </a:t>
            </a:r>
          </a:p>
          <a:p>
            <a:pPr rtl="0"/>
            <a:r>
              <a:rPr lang="pl-PL" sz="1600"/>
              <a:t>Otwórz okienko Pomysły dotyczące projektu, aby korzystać z błyskawicznych przeobrażeń slajdów. </a:t>
            </a:r>
          </a:p>
          <a:p>
            <a:pPr rtl="0"/>
            <a:r>
              <a:rPr lang="pl-PL" sz="1600"/>
              <a:t>W tym miejscu będziemy przedstawiać nasze pomysły projektowe.</a:t>
            </a:r>
          </a:p>
        </p:txBody>
      </p:sp>
      <p:sp>
        <p:nvSpPr>
          <p:cNvPr id="14" name="Data — symbol zastępczy 13">
            <a:extLst>
              <a:ext uri="{FF2B5EF4-FFF2-40B4-BE49-F238E27FC236}">
                <a16:creationId xmlns:a16="http://schemas.microsoft.com/office/drawing/2014/main" id="{D236478C-E242-44E0-8357-C72C9B58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l-PL"/>
              <a:t>Wtorek, 2 lutego 20XX</a:t>
            </a:r>
            <a:endParaRPr lang="pl-PL" dirty="0"/>
          </a:p>
        </p:txBody>
      </p:sp>
      <p:sp>
        <p:nvSpPr>
          <p:cNvPr id="15" name="Stopka — symbol zastępczy 14">
            <a:extLst>
              <a:ext uri="{FF2B5EF4-FFF2-40B4-BE49-F238E27FC236}">
                <a16:creationId xmlns:a16="http://schemas.microsoft.com/office/drawing/2014/main" id="{65A6DC02-681E-4AF7-AC6E-57CDDB2F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16" name="Numer slajdu — symbol zastępczy 15">
            <a:extLst>
              <a:ext uri="{FF2B5EF4-FFF2-40B4-BE49-F238E27FC236}">
                <a16:creationId xmlns:a16="http://schemas.microsoft.com/office/drawing/2014/main" id="{CF0A8666-4477-461C-A79D-E91232EE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054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/>
          <a:lstStyle/>
          <a:p>
            <a:pPr rtl="0"/>
            <a:r>
              <a:rPr lang="pl-PL"/>
              <a:t>Dziękujemy</a:t>
            </a:r>
          </a:p>
        </p:txBody>
      </p:sp>
      <p:sp>
        <p:nvSpPr>
          <p:cNvPr id="23" name="Podtytuł 22">
            <a:extLst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/>
          <a:lstStyle/>
          <a:p>
            <a:pPr rtl="0"/>
            <a:r>
              <a:rPr lang="pl-PL"/>
              <a:t>Imię i nazwisko osoby prowadzącej</a:t>
            </a:r>
          </a:p>
          <a:p>
            <a:pPr rtl="0"/>
            <a:r>
              <a:rPr lang="pl-PL"/>
              <a:t>Adres e-mail</a:t>
            </a:r>
          </a:p>
          <a:p>
            <a:pPr rtl="0"/>
            <a:r>
              <a:rPr lang="pl-PL"/>
              <a:t>Adres witryny internetowej</a:t>
            </a:r>
          </a:p>
        </p:txBody>
      </p:sp>
      <p:pic>
        <p:nvPicPr>
          <p:cNvPr id="27" name="Obraz — symbol zastępczy 26" descr="Cyfrowe tło punktów danych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Obraz — symbol zastępczy 32" descr="Cyfrowe tło punktów danych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l-PL"/>
              <a:t>Wtorek, 2 lutego 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-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l-PL" smtClean="0"/>
              <a:pPr rtl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441.tgt.Office_50301113_TF33713516_Win32_OJ112196127" id="{13F340DD-E820-4A45-AE8D-F68A3FDA2EBD}" vid="{E10BDB70-DE34-4756-8F2F-575C338F3077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Projekt Pływające 3D</Template>
  <TotalTime>33</TotalTime>
  <Words>543</Words>
  <Application>Microsoft Office PowerPoint</Application>
  <PresentationFormat>Panoramiczny</PresentationFormat>
  <Paragraphs>77</Paragraphs>
  <Slides>9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Times New Roman</vt:lpstr>
      <vt:lpstr>3DFloatVTI</vt:lpstr>
      <vt:lpstr>Projekt BIAI</vt:lpstr>
      <vt:lpstr>ROZPIS OMAWIANIA PROJEKTU</vt:lpstr>
      <vt:lpstr>Optymalizacja Zagadnienia Przydziału za pomocą algorytmu generycznego</vt:lpstr>
      <vt:lpstr>Opis Problemu </vt:lpstr>
      <vt:lpstr>Konfiguracja Algorytmu Generycznego  (Biblioteka PyGAD)</vt:lpstr>
      <vt:lpstr>Analiza Wyników Zbieżność</vt:lpstr>
      <vt:lpstr>Wizualizacja Rozwiązania (Heatmapa)</vt:lpstr>
      <vt:lpstr>Zawartość 2 </vt:lpstr>
      <vt:lpstr>Dziękujemy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Karolina</dc:creator>
  <cp:lastModifiedBy>Karolina</cp:lastModifiedBy>
  <cp:revision>3</cp:revision>
  <dcterms:created xsi:type="dcterms:W3CDTF">2026-04-20T19:21:54Z</dcterms:created>
  <dcterms:modified xsi:type="dcterms:W3CDTF">2026-04-20T19:55:45Z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