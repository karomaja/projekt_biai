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8735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Naszym</a:t>
            </a:r>
            <a:r>
              <a:rPr lang="en-US" dirty="0"/>
              <a:t> </a:t>
            </a:r>
            <a:r>
              <a:rPr lang="en-US" dirty="0" err="1"/>
              <a:t>zadaniem</a:t>
            </a:r>
            <a:r>
              <a:rPr lang="en-US" dirty="0"/>
              <a:t> </a:t>
            </a:r>
            <a:r>
              <a:rPr lang="pl-PL" dirty="0"/>
              <a:t>w ramach zadania pierwszego </a:t>
            </a:r>
            <a:r>
              <a:rPr lang="en-US" dirty="0" err="1"/>
              <a:t>było</a:t>
            </a:r>
            <a:r>
              <a:rPr lang="en-US" dirty="0"/>
              <a:t> napisać program, który sam uczy się rozwiązywać jakiś problem — konkretnie z użyciem </a:t>
            </a:r>
            <a:r>
              <a:rPr lang="en-US" dirty="0" err="1"/>
              <a:t>algorytmu</a:t>
            </a:r>
            <a:r>
              <a:rPr lang="en-US" dirty="0"/>
              <a:t> </a:t>
            </a:r>
            <a:r>
              <a:rPr lang="en-US" dirty="0" err="1"/>
              <a:t>genetycznego</a:t>
            </a:r>
            <a:r>
              <a:rPr lang="en-US" dirty="0"/>
              <a:t>. </a:t>
            </a:r>
            <a:r>
              <a:rPr lang="en-US" dirty="0" err="1"/>
              <a:t>Wybraliśmy</a:t>
            </a:r>
            <a:r>
              <a:rPr lang="en-US" dirty="0"/>
              <a:t> problem</a:t>
            </a:r>
            <a:r>
              <a:rPr lang="pl-PL" dirty="0"/>
              <a:t> zagadnienia przydziału, który w dokumencie jest oznaczony jako zadanie 2.3</a:t>
            </a:r>
            <a:r>
              <a:rPr lang="en-US" dirty="0"/>
              <a:t>. Za </a:t>
            </a:r>
            <a:r>
              <a:rPr lang="en-US" dirty="0" err="1"/>
              <a:t>chwilę</a:t>
            </a:r>
            <a:r>
              <a:rPr lang="en-US" dirty="0"/>
              <a:t> </a:t>
            </a:r>
            <a:r>
              <a:rPr lang="en-US" dirty="0" err="1"/>
              <a:t>wytłumacz</a:t>
            </a:r>
            <a:r>
              <a:rPr lang="pl-PL" dirty="0" err="1"/>
              <a:t>ymy</a:t>
            </a:r>
            <a:r>
              <a:rPr lang="en-US" dirty="0"/>
              <a:t> o co w tym chodzi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pokaż</a:t>
            </a:r>
            <a:r>
              <a:rPr lang="pl-PL" dirty="0" err="1"/>
              <a:t>emy</a:t>
            </a:r>
            <a:r>
              <a:rPr lang="pl-PL" dirty="0"/>
              <a:t> jakie wyniki otrzymaliśmy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Krótko o tym, co </a:t>
            </a:r>
            <a:r>
              <a:rPr lang="en-US" dirty="0" err="1"/>
              <a:t>będ</a:t>
            </a:r>
            <a:r>
              <a:rPr lang="pl-PL" dirty="0" err="1"/>
              <a:t>ziemy</a:t>
            </a:r>
            <a:r>
              <a:rPr lang="en-US" dirty="0"/>
              <a:t> po </a:t>
            </a:r>
            <a:r>
              <a:rPr lang="en-US" dirty="0" err="1"/>
              <a:t>kolei</a:t>
            </a:r>
            <a:r>
              <a:rPr lang="en-US" dirty="0"/>
              <a:t> </a:t>
            </a:r>
            <a:r>
              <a:rPr lang="en-US" dirty="0" err="1"/>
              <a:t>pokazywa</a:t>
            </a:r>
            <a:r>
              <a:rPr lang="pl-PL" dirty="0"/>
              <a:t>ć</a:t>
            </a:r>
            <a:r>
              <a:rPr lang="en-US" dirty="0"/>
              <a:t>. Najpierw </a:t>
            </a:r>
            <a:r>
              <a:rPr lang="en-US" dirty="0" err="1"/>
              <a:t>wytłumacz</a:t>
            </a:r>
            <a:r>
              <a:rPr lang="pl-PL" dirty="0" err="1"/>
              <a:t>ymy</a:t>
            </a:r>
            <a:r>
              <a:rPr lang="en-US" dirty="0"/>
              <a:t> sam problem — czyli co algorytm ma w ogóle rozwiązać. </a:t>
            </a:r>
            <a:r>
              <a:rPr lang="en-US" dirty="0" err="1"/>
              <a:t>Potem</a:t>
            </a:r>
            <a:r>
              <a:rPr lang="en-US" dirty="0"/>
              <a:t> </a:t>
            </a:r>
            <a:r>
              <a:rPr lang="en-US" dirty="0" err="1"/>
              <a:t>pokaż</a:t>
            </a:r>
            <a:r>
              <a:rPr lang="pl-PL" dirty="0" err="1"/>
              <a:t>emy</a:t>
            </a:r>
            <a:r>
              <a:rPr lang="en-US" dirty="0"/>
              <a:t> jak zapisaliśmy ten problem w taki sposób, żeby algorytm dał radę go zrozumieć. </a:t>
            </a:r>
            <a:r>
              <a:rPr lang="en-US" dirty="0" err="1"/>
              <a:t>Później</a:t>
            </a:r>
            <a:r>
              <a:rPr lang="en-US" dirty="0"/>
              <a:t> </a:t>
            </a:r>
            <a:r>
              <a:rPr lang="en-US" dirty="0" err="1"/>
              <a:t>omówi</a:t>
            </a:r>
            <a:r>
              <a:rPr lang="pl-PL" dirty="0"/>
              <a:t>my</a:t>
            </a:r>
            <a:r>
              <a:rPr lang="en-US" dirty="0"/>
              <a:t> </a:t>
            </a:r>
            <a:r>
              <a:rPr lang="en-US" dirty="0" err="1"/>
              <a:t>ustawienia</a:t>
            </a:r>
            <a:r>
              <a:rPr lang="en-US" dirty="0"/>
              <a:t> </a:t>
            </a:r>
            <a:r>
              <a:rPr lang="en-US" dirty="0" err="1"/>
              <a:t>algorytmu</a:t>
            </a:r>
            <a:r>
              <a:rPr lang="pl-PL" dirty="0"/>
              <a:t>, omówimy dlaczego akurat takie</a:t>
            </a:r>
            <a:r>
              <a:rPr lang="en-US" dirty="0"/>
              <a:t>. </a:t>
            </a:r>
            <a:r>
              <a:rPr lang="en-US" dirty="0" err="1"/>
              <a:t>Osobno</a:t>
            </a:r>
            <a:r>
              <a:rPr lang="en-US" dirty="0"/>
              <a:t> </a:t>
            </a:r>
            <a:r>
              <a:rPr lang="en-US" dirty="0" err="1"/>
              <a:t>powiem</a:t>
            </a:r>
            <a:r>
              <a:rPr lang="pl-PL" dirty="0"/>
              <a:t>y</a:t>
            </a:r>
            <a:r>
              <a:rPr lang="en-US" dirty="0"/>
              <a:t> o ziarnie losowości, bo to ważna rzecz w </a:t>
            </a:r>
            <a:r>
              <a:rPr lang="pl-PL" dirty="0"/>
              <a:t>powtarzalności</a:t>
            </a:r>
            <a:r>
              <a:rPr lang="en-US" dirty="0"/>
              <a:t>. Na </a:t>
            </a:r>
            <a:r>
              <a:rPr lang="en-US" dirty="0" err="1"/>
              <a:t>końcu</a:t>
            </a:r>
            <a:r>
              <a:rPr lang="en-US" dirty="0"/>
              <a:t> </a:t>
            </a:r>
            <a:r>
              <a:rPr lang="en-US" dirty="0" err="1"/>
              <a:t>pokaż</a:t>
            </a:r>
            <a:r>
              <a:rPr lang="pl-PL" dirty="0" err="1"/>
              <a:t>emy</a:t>
            </a:r>
            <a:r>
              <a:rPr lang="en-US" dirty="0"/>
              <a:t> wyniki na wykresach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powiem</a:t>
            </a:r>
            <a:r>
              <a:rPr lang="pl-PL" dirty="0"/>
              <a:t>y</a:t>
            </a:r>
            <a:r>
              <a:rPr lang="en-US" dirty="0"/>
              <a:t> co z tego wynika.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jest prosty. Wyobraźmy sobie, że mamy dziesięciu pracowników i dziesięć zadań do zrobienia. Każdy pracownik bierze dokładnie jedno </a:t>
            </a:r>
            <a:r>
              <a:rPr lang="en-US" dirty="0" err="1"/>
              <a:t>zadanie</a:t>
            </a:r>
            <a:r>
              <a:rPr lang="en-US" dirty="0"/>
              <a:t> </a:t>
            </a:r>
            <a:r>
              <a:rPr lang="pl-PL" dirty="0"/>
              <a:t>-</a:t>
            </a:r>
            <a:r>
              <a:rPr lang="en-US" dirty="0"/>
              <a:t> i każde zadanie ma dokładnie jednego pracownika, czyli nikt się nie dubluje. Cała sztuka polega na tym, że każdy pracownik robi każde zadanie w innym czasie albo za inną </a:t>
            </a:r>
            <a:r>
              <a:rPr lang="en-US" dirty="0" err="1"/>
              <a:t>cenę</a:t>
            </a:r>
            <a:r>
              <a:rPr lang="en-US" dirty="0"/>
              <a:t> </a:t>
            </a:r>
            <a:r>
              <a:rPr lang="pl-PL" dirty="0"/>
              <a:t>-</a:t>
            </a:r>
            <a:r>
              <a:rPr lang="en-US" dirty="0"/>
              <a:t> to są te koszty. Mamy </a:t>
            </a:r>
            <a:r>
              <a:rPr lang="en-US" dirty="0" err="1"/>
              <a:t>więc</a:t>
            </a:r>
            <a:r>
              <a:rPr lang="en-US" dirty="0"/>
              <a:t> </a:t>
            </a:r>
            <a:r>
              <a:rPr lang="pl-PL" dirty="0"/>
              <a:t> tabelę </a:t>
            </a:r>
            <a:r>
              <a:rPr lang="en-US" dirty="0"/>
              <a:t>10 na 10, gdzie pisze ile co </a:t>
            </a:r>
            <a:r>
              <a:rPr lang="en-US" dirty="0" err="1"/>
              <a:t>kogo</a:t>
            </a:r>
            <a:r>
              <a:rPr lang="en-US" dirty="0"/>
              <a:t> </a:t>
            </a:r>
            <a:r>
              <a:rPr lang="en-US" dirty="0" err="1"/>
              <a:t>kosztuje</a:t>
            </a:r>
            <a:r>
              <a:rPr lang="pl-PL" dirty="0"/>
              <a:t>, czyli naszą macierz kosztów</a:t>
            </a:r>
            <a:r>
              <a:rPr lang="en-US" dirty="0"/>
              <a:t>. Naszym celem jest tak rozdzielić zadania, żeby suma kosztów była jak najmniejsza. I tu jest </a:t>
            </a:r>
            <a:r>
              <a:rPr lang="en-US" dirty="0" err="1"/>
              <a:t>haczyk</a:t>
            </a:r>
            <a:r>
              <a:rPr lang="en-US" dirty="0"/>
              <a:t> </a:t>
            </a:r>
            <a:r>
              <a:rPr lang="pl-PL" dirty="0"/>
              <a:t>–</a:t>
            </a:r>
            <a:r>
              <a:rPr lang="en-US" dirty="0"/>
              <a:t> </a:t>
            </a:r>
            <a:r>
              <a:rPr lang="pl-PL" dirty="0"/>
              <a:t>ponieważ </a:t>
            </a:r>
            <a:r>
              <a:rPr lang="en-US" dirty="0" err="1"/>
              <a:t>możliwych</a:t>
            </a:r>
            <a:r>
              <a:rPr lang="en-US" dirty="0"/>
              <a:t> kombinacji jest aż 3,6 miliona. Komputer nie sprawdza wszystkich po kolei, bo trwałoby to za długo. Algorytm genetyczny próbuje to zrobić sprytniej.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Jednak zanim przejdziemy do algorytmu chcieliśmy odpowiedzieć na jedno pytanie „</a:t>
            </a:r>
            <a:r>
              <a:rPr lang="en-US" dirty="0"/>
              <a:t>jak zapisać ten problem </a:t>
            </a:r>
            <a:r>
              <a:rPr lang="en-US" dirty="0" err="1"/>
              <a:t>dla</a:t>
            </a:r>
            <a:r>
              <a:rPr lang="en-US" dirty="0"/>
              <a:t> </a:t>
            </a:r>
            <a:r>
              <a:rPr lang="pl-PL" dirty="0"/>
              <a:t>właśnie naszego </a:t>
            </a:r>
            <a:r>
              <a:rPr lang="en-US" dirty="0" err="1"/>
              <a:t>algorytmu</a:t>
            </a:r>
            <a:r>
              <a:rPr lang="pl-PL" dirty="0"/>
              <a:t>”</a:t>
            </a:r>
            <a:r>
              <a:rPr lang="en-US" dirty="0"/>
              <a:t>. Robimy to za pomocą zwykłej listy dziesięciu </a:t>
            </a:r>
            <a:r>
              <a:rPr lang="en-US" dirty="0" err="1"/>
              <a:t>liczb</a:t>
            </a:r>
            <a:r>
              <a:rPr lang="en-US" dirty="0"/>
              <a:t> </a:t>
            </a:r>
            <a:r>
              <a:rPr lang="pl-PL" dirty="0"/>
              <a:t>-</a:t>
            </a:r>
            <a:r>
              <a:rPr lang="en-US" dirty="0"/>
              <a:t> to jest właśnie nasz chromosom. Pozycja na liście to numer zadania, a liczba na tej pozycji to numer pracownika. Czyli na przykład jeśli na początku listy jest dziewiątka, to znaczy: zadanie zerowe wykonuje pracownik numer dziewięć. Druga </a:t>
            </a:r>
            <a:r>
              <a:rPr lang="en-US" dirty="0" err="1"/>
              <a:t>rzecz</a:t>
            </a:r>
            <a:r>
              <a:rPr lang="en-US" dirty="0"/>
              <a:t> </a:t>
            </a:r>
            <a:r>
              <a:rPr lang="pl-PL" dirty="0"/>
              <a:t>-</a:t>
            </a:r>
            <a:r>
              <a:rPr lang="en-US" dirty="0"/>
              <a:t> algorytm musi jakoś oceniać, czy dany przydział jest dobry czy zły. Robi to funkcja fitness. Tu jest </a:t>
            </a:r>
            <a:r>
              <a:rPr lang="en-US" dirty="0" err="1"/>
              <a:t>mały</a:t>
            </a:r>
            <a:r>
              <a:rPr lang="en-US" dirty="0"/>
              <a:t> </a:t>
            </a:r>
            <a:r>
              <a:rPr lang="pl-PL" dirty="0"/>
              <a:t>haczyk, mały </a:t>
            </a:r>
            <a:r>
              <a:rPr lang="en-US" dirty="0" err="1"/>
              <a:t>trik</a:t>
            </a:r>
            <a:r>
              <a:rPr lang="pl-PL" dirty="0"/>
              <a:t>, ponieważ </a:t>
            </a:r>
            <a:r>
              <a:rPr lang="en-US" dirty="0" err="1"/>
              <a:t>biblioteka</a:t>
            </a:r>
            <a:r>
              <a:rPr lang="pl-PL" dirty="0"/>
              <a:t> </a:t>
            </a:r>
            <a:r>
              <a:rPr lang="pl-PL" dirty="0" err="1"/>
              <a:t>PyGAD</a:t>
            </a:r>
            <a:r>
              <a:rPr lang="en-US" dirty="0"/>
              <a:t>, której używamy, szuka rozwiązań z jak najwyższym wynikiem fitness, a my chcemy jak najniższego kosztu. Więc po prostu </a:t>
            </a:r>
            <a:r>
              <a:rPr lang="en-US" dirty="0" err="1"/>
              <a:t>odwracamy</a:t>
            </a:r>
            <a:r>
              <a:rPr lang="en-US" dirty="0"/>
              <a:t> </a:t>
            </a:r>
            <a:r>
              <a:rPr lang="en-US" dirty="0" err="1"/>
              <a:t>ułamek</a:t>
            </a:r>
            <a:r>
              <a:rPr lang="pl-PL" dirty="0"/>
              <a:t>, mamy jego odwrotność, czyli </a:t>
            </a:r>
            <a:r>
              <a:rPr lang="en-US" dirty="0"/>
              <a:t>fitness to jeden przez sumę kosztów. Im niższy koszt, tym </a:t>
            </a:r>
            <a:r>
              <a:rPr lang="en-US" dirty="0" err="1"/>
              <a:t>wyższy</a:t>
            </a:r>
            <a:r>
              <a:rPr lang="en-US" dirty="0"/>
              <a:t> fitness. Trzecia rzecz to zasada, że każdy pracownik może być na liście </a:t>
            </a:r>
            <a:r>
              <a:rPr lang="en-US" dirty="0" err="1"/>
              <a:t>tylko</a:t>
            </a:r>
            <a:r>
              <a:rPr lang="en-US" dirty="0"/>
              <a:t> </a:t>
            </a:r>
            <a:r>
              <a:rPr lang="en-US" dirty="0" err="1"/>
              <a:t>raz</a:t>
            </a:r>
            <a:r>
              <a:rPr lang="pl-PL" dirty="0"/>
              <a:t>,</a:t>
            </a:r>
            <a:r>
              <a:rPr lang="en-US" dirty="0"/>
              <a:t> </a:t>
            </a:r>
            <a:r>
              <a:rPr lang="pl-PL" dirty="0"/>
              <a:t>ponieważ</a:t>
            </a:r>
            <a:r>
              <a:rPr lang="en-US" dirty="0"/>
              <a:t> nie może robić dwóch zadań naraz. Zadbaliśmy o to dwoma ustawieniami, </a:t>
            </a:r>
            <a:r>
              <a:rPr lang="en-US" dirty="0" err="1"/>
              <a:t>które</a:t>
            </a:r>
            <a:r>
              <a:rPr lang="en-US" dirty="0"/>
              <a:t> </a:t>
            </a:r>
            <a:r>
              <a:rPr lang="en-US" dirty="0" err="1"/>
              <a:t>pokaż</a:t>
            </a:r>
            <a:r>
              <a:rPr lang="pl-PL" dirty="0" err="1"/>
              <a:t>emy</a:t>
            </a:r>
            <a:r>
              <a:rPr lang="en-US" dirty="0"/>
              <a:t> za chwilę.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 tym slajdzie widzimy jak nastawiliśmy algorytm</a:t>
            </a:r>
            <a:r>
              <a:rPr lang="en-US" dirty="0"/>
              <a:t>. </a:t>
            </a:r>
            <a:r>
              <a:rPr lang="en-US" dirty="0" err="1"/>
              <a:t>Algorytm</a:t>
            </a:r>
            <a:r>
              <a:rPr lang="en-US" dirty="0"/>
              <a:t> działa tak, że ma cały zbiór różnych </a:t>
            </a:r>
            <a:r>
              <a:rPr lang="en-US" dirty="0" err="1"/>
              <a:t>prób</a:t>
            </a:r>
            <a:r>
              <a:rPr lang="en-US" dirty="0"/>
              <a:t> </a:t>
            </a:r>
            <a:r>
              <a:rPr lang="pl-PL" dirty="0"/>
              <a:t>-</a:t>
            </a:r>
            <a:r>
              <a:rPr lang="en-US" dirty="0"/>
              <a:t> u nas 50 sztuk, to jest populacja. Każda taka próba to inny pomysł na przydział zadań. Algorytm przepuszcza tę populację przez 200 rund, czyli pokoleń. W każdej rundzie wybiera 10 najlepszych pomysłów, miesza je ze </a:t>
            </a:r>
            <a:r>
              <a:rPr lang="en-US" dirty="0" err="1"/>
              <a:t>sobą</a:t>
            </a:r>
            <a:r>
              <a:rPr lang="en-US" dirty="0"/>
              <a:t> </a:t>
            </a:r>
            <a:r>
              <a:rPr lang="pl-PL" dirty="0"/>
              <a:t>-</a:t>
            </a:r>
            <a:r>
              <a:rPr lang="en-US" dirty="0"/>
              <a:t> to jest </a:t>
            </a:r>
            <a:r>
              <a:rPr lang="en-US" dirty="0" err="1"/>
              <a:t>krzyżowanie</a:t>
            </a:r>
            <a:r>
              <a:rPr lang="en-US" dirty="0"/>
              <a:t> </a:t>
            </a:r>
            <a:r>
              <a:rPr lang="pl-PL" dirty="0"/>
              <a:t>-</a:t>
            </a:r>
            <a:r>
              <a:rPr lang="en-US" dirty="0"/>
              <a:t> i czasem coś w nich zmienia, czyli mutacja. Najlepsze pomysły zostawiamy w spokoju, żeby ich nie </a:t>
            </a:r>
            <a:r>
              <a:rPr lang="en-US" dirty="0" err="1"/>
              <a:t>zepsuć</a:t>
            </a:r>
            <a:r>
              <a:rPr lang="en-US" dirty="0"/>
              <a:t> </a:t>
            </a:r>
            <a:r>
              <a:rPr lang="pl-PL" dirty="0"/>
              <a:t>-</a:t>
            </a:r>
            <a:r>
              <a:rPr lang="en-US" dirty="0"/>
              <a:t> to jest elitaryzm. Mutacja, której używamy, nazywa się swap i polega po prostu na zamianie dwóch liczb na liście miejscami. Wybraliśmy ją specjalnie, bo nie psuje </a:t>
            </a:r>
            <a:r>
              <a:rPr lang="en-US" dirty="0" err="1"/>
              <a:t>listy</a:t>
            </a:r>
            <a:r>
              <a:rPr lang="en-US" dirty="0"/>
              <a:t> </a:t>
            </a:r>
            <a:r>
              <a:rPr lang="pl-PL" dirty="0"/>
              <a:t>-</a:t>
            </a:r>
            <a:r>
              <a:rPr lang="en-US" dirty="0"/>
              <a:t> nie powoduje, że ten sam pracownik wpadnie na nią dwa razy. To jest właśnie ten problem, o </a:t>
            </a:r>
            <a:r>
              <a:rPr lang="en-US" dirty="0" err="1"/>
              <a:t>którym</a:t>
            </a:r>
            <a:r>
              <a:rPr lang="en-US" dirty="0"/>
              <a:t> </a:t>
            </a:r>
            <a:r>
              <a:rPr lang="en-US" dirty="0" err="1"/>
              <a:t>mówi</a:t>
            </a:r>
            <a:r>
              <a:rPr lang="pl-PL" dirty="0"/>
              <a:t>liśmy</a:t>
            </a:r>
            <a:r>
              <a:rPr lang="en-US" dirty="0"/>
              <a:t> na poprzednim slajdzie. Krzyżowanie jednopunktowe to wzięcie połowy z jednego pomysłu i połowy z drugiego.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Teraz </a:t>
            </a:r>
            <a:r>
              <a:rPr lang="en-US" dirty="0" err="1"/>
              <a:t>jeszcze</a:t>
            </a:r>
            <a:r>
              <a:rPr lang="en-US" dirty="0"/>
              <a:t> </a:t>
            </a:r>
            <a:r>
              <a:rPr lang="pl-PL" dirty="0" err="1"/>
              <a:t>wspominmy</a:t>
            </a:r>
            <a:r>
              <a:rPr lang="pl-PL" dirty="0"/>
              <a:t> o </a:t>
            </a:r>
            <a:r>
              <a:rPr lang="en-US" dirty="0" err="1"/>
              <a:t>ziarnie</a:t>
            </a:r>
            <a:r>
              <a:rPr lang="en-US" dirty="0"/>
              <a:t> losowości. To bardzo ważna rzecz w takich projektach. Algorytm w wielu miejscach robi </a:t>
            </a:r>
            <a:r>
              <a:rPr lang="en-US" dirty="0" err="1"/>
              <a:t>rzeczy</a:t>
            </a:r>
            <a:r>
              <a:rPr lang="en-US" dirty="0"/>
              <a:t> </a:t>
            </a:r>
            <a:r>
              <a:rPr lang="en-US" dirty="0" err="1"/>
              <a:t>losowe</a:t>
            </a:r>
            <a:r>
              <a:rPr lang="pl-PL" dirty="0"/>
              <a:t>:</a:t>
            </a:r>
            <a:r>
              <a:rPr lang="en-US" dirty="0"/>
              <a:t>  losuje macierz kosztów na początku, losuje populację startową, losuje miejsca krzyżowania, losuje co zmutować. Gdyby to wszystko było naprawdę losowe, to za każdym razem dostawalibyśmy inny wynik, i nie dałoby się tego ze sobą porównywać. Dlatego ustawiamy tak zwane ziarno, czyli SEED, na </a:t>
            </a:r>
            <a:r>
              <a:rPr lang="en-US" dirty="0" err="1"/>
              <a:t>liczbę</a:t>
            </a:r>
            <a:r>
              <a:rPr lang="en-US" dirty="0"/>
              <a:t> 42. Ale technicznie liczba jest dowolna, najważniejsze że jest zawsze ta sama. Dzięki </a:t>
            </a:r>
            <a:r>
              <a:rPr lang="en-US" dirty="0" err="1"/>
              <a:t>temu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</a:t>
            </a:r>
            <a:r>
              <a:rPr lang="en-US" dirty="0" err="1"/>
              <a:t>zaczyna</a:t>
            </a:r>
            <a:r>
              <a:rPr lang="en-US" dirty="0"/>
              <a:t> losować od tego </a:t>
            </a:r>
            <a:r>
              <a:rPr lang="en-US" dirty="0" err="1"/>
              <a:t>punktu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za każdym razem losuje to samo. Macierz kosztów wychodzi taka sama, populacja startowa taka sama, cała reszta też. W kodzie ustawiamy to jedną linijką: np.random.seed czterdzieści dwa, na samym początku programu. Po co to </a:t>
            </a:r>
            <a:r>
              <a:rPr lang="pl-PL" dirty="0"/>
              <a:t>robimy</a:t>
            </a:r>
            <a:r>
              <a:rPr lang="en-US" dirty="0"/>
              <a:t>? Żeby kiedy zmienimy jakieś ustawienie algorytmu i dostaniemy lepszy wynik, mieć pewność, że to dzięki nowym ustawieniom, a nie dlatego, że tym razem nam się udało.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Tutaj widać wyniki na trzech wykresach. Pierwszy po lewej pokazuje, jak dobrze radził sobie algorytm z biegiem </a:t>
            </a:r>
            <a:r>
              <a:rPr lang="en-US" dirty="0" err="1"/>
              <a:t>czasu</a:t>
            </a:r>
            <a:r>
              <a:rPr lang="en-US" dirty="0"/>
              <a:t> </a:t>
            </a:r>
            <a:r>
              <a:rPr lang="pl-PL" dirty="0"/>
              <a:t>-</a:t>
            </a:r>
            <a:r>
              <a:rPr lang="en-US" dirty="0"/>
              <a:t> im wyżej tym lepiej. Widać, że już w pierwszych kilku rundach algorytm bardzo szybko się poprawia, a potem ustawia się na poziomie i już się nie zmienia. Środkowy wykres pokazuje to samo, tylko z drugiej </a:t>
            </a:r>
            <a:r>
              <a:rPr lang="en-US" dirty="0" err="1"/>
              <a:t>strony</a:t>
            </a:r>
            <a:r>
              <a:rPr lang="en-US" dirty="0"/>
              <a:t> </a:t>
            </a:r>
            <a:r>
              <a:rPr lang="pl-PL" dirty="0"/>
              <a:t>-</a:t>
            </a:r>
            <a:r>
              <a:rPr lang="en-US" dirty="0"/>
              <a:t> czyli koszt całkowity. Im niżej tym lepiej. Startujemy z mniej </a:t>
            </a:r>
            <a:r>
              <a:rPr lang="en-US" dirty="0" err="1"/>
              <a:t>więcej</a:t>
            </a:r>
            <a:r>
              <a:rPr lang="en-US" dirty="0"/>
              <a:t> </a:t>
            </a:r>
            <a:r>
              <a:rPr lang="pl-PL" dirty="0"/>
              <a:t>120</a:t>
            </a:r>
            <a:r>
              <a:rPr lang="en-US" dirty="0"/>
              <a:t> i schodzimy do 87. To jest spadek o jedną trzecią, i to bardzo szybko. Trzeci wykres po prawej to nasza tabelka kosztów pokolorowana — ciemne fioletowe pola to małe koszty, jasne żółte to duże. Niebieskie kropki pokazują wybór algorytmu. Widać, że konsekwentnie celuje w te ciemne, najtańsze pola. Ważne też: w żadnym wierszu i w żadnej kolumnie nie ma więcej niż jednej kropki — to znaczy, że żaden pracownik nie został przypisany do dwóch zadań i żadne zadanie nie zostało pominięte. Wszystko się zgadza.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Tutaj patrzymy na wynik z bliska. Najlepsze rozwiązanie, jakie algorytm znalazł, to suma kosztów równa 87. Startowaliśmy od </a:t>
            </a:r>
            <a:r>
              <a:rPr lang="en-US" dirty="0" err="1"/>
              <a:t>około</a:t>
            </a:r>
            <a:r>
              <a:rPr lang="en-US" dirty="0"/>
              <a:t> 1</a:t>
            </a:r>
            <a:r>
              <a:rPr lang="pl-PL" dirty="0"/>
              <a:t>20</a:t>
            </a:r>
            <a:r>
              <a:rPr lang="en-US" dirty="0"/>
              <a:t>, więc to spadek o jedną trzecią. Po prawej widać, jak konkretnie wyglądał ten przydział: zadanie zerowe robi pracownik dziewiąty, zadanie pierwsze pracownik piąty, drugie zadanie pracownik drugi i tak dalej. Można szybko sprawdzić, że każdy pracownik od zera do dziewięciu pojawia się dokładnie jeden </a:t>
            </a:r>
            <a:r>
              <a:rPr lang="en-US" dirty="0" err="1"/>
              <a:t>raz</a:t>
            </a:r>
            <a:r>
              <a:rPr lang="en-US" dirty="0"/>
              <a:t> </a:t>
            </a:r>
            <a:r>
              <a:rPr lang="pl-PL" dirty="0"/>
              <a:t>-</a:t>
            </a:r>
            <a:r>
              <a:rPr lang="en-US" dirty="0"/>
              <a:t> co oznacza, że rozwiązanie jest poprawne i nikt nie został zapomniany.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Cztery wnioski z naszego projektu. Po </a:t>
            </a:r>
            <a:r>
              <a:rPr lang="en-US" dirty="0" err="1"/>
              <a:t>pierwsze</a:t>
            </a:r>
            <a:r>
              <a:rPr lang="pl-PL" dirty="0"/>
              <a:t> -</a:t>
            </a:r>
            <a:r>
              <a:rPr lang="en-US" dirty="0"/>
              <a:t> algorytm jest bardzo szybki. Już po piętnastu rundach znajduje dobre rozwiązanie, a potem przez kolejne 185 rund nic się nie poprawia. Można by go więc przerwać wcześniej i zaoszczędzić czas. Po </a:t>
            </a:r>
            <a:r>
              <a:rPr lang="en-US" dirty="0" err="1"/>
              <a:t>drugie</a:t>
            </a:r>
            <a:r>
              <a:rPr lang="en-US" dirty="0"/>
              <a:t> </a:t>
            </a:r>
            <a:r>
              <a:rPr lang="pl-PL" dirty="0"/>
              <a:t>- </a:t>
            </a:r>
            <a:r>
              <a:rPr lang="en-US" dirty="0" err="1"/>
              <a:t>algorytm</a:t>
            </a:r>
            <a:r>
              <a:rPr lang="en-US" dirty="0"/>
              <a:t> sprawdził tylko mały kawałek wszystkich możliwości, a i tak znalazł świetne rozwiązanie. To pokazuje siłę takiego sprytnego szukania, w przeciwieństwie do sprawdzania wszystkiego po kolei. Po </a:t>
            </a:r>
            <a:r>
              <a:rPr lang="en-US" dirty="0" err="1"/>
              <a:t>trzecie</a:t>
            </a:r>
            <a:r>
              <a:rPr lang="en-US" dirty="0"/>
              <a:t> </a:t>
            </a:r>
            <a:r>
              <a:rPr lang="pl-PL" dirty="0"/>
              <a:t>-</a:t>
            </a:r>
            <a:r>
              <a:rPr lang="en-US" dirty="0"/>
              <a:t> wybór klocków, których używamy w algorytmie, ma duże znaczenie. Mutacja swap była konieczna dla naszego problemu, bo zwykła losowa mutacja popsułaby całą logikę. Dla innego problemu trzeba by dobrać inne klocki. Po </a:t>
            </a:r>
            <a:r>
              <a:rPr lang="en-US" dirty="0" err="1"/>
              <a:t>czwarte</a:t>
            </a:r>
            <a:r>
              <a:rPr lang="en-US" dirty="0"/>
              <a:t> </a:t>
            </a:r>
            <a:r>
              <a:rPr lang="pl-PL" dirty="0"/>
              <a:t>-</a:t>
            </a:r>
            <a:r>
              <a:rPr lang="en-US" dirty="0"/>
              <a:t> używanie stałego ziarna losowości to podstawa. Dzięki temu wynik jest powtarzalny i wiemy, że gdy poprawimy algorytm, to jego lepszy wynik to faktycznie zasługa naszych zmian, a </a:t>
            </a:r>
            <a:r>
              <a:rPr lang="en-US" dirty="0" err="1"/>
              <a:t>nie</a:t>
            </a:r>
            <a:r>
              <a:rPr lang="en-US" dirty="0"/>
              <a:t> </a:t>
            </a:r>
            <a:r>
              <a:rPr lang="en-US" dirty="0" err="1"/>
              <a:t>przypadku</a:t>
            </a:r>
            <a:r>
              <a:rPr lang="pl-PL" dirty="0"/>
              <a:t>, czy losowości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0"/>
            <a:ext cx="109728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457200" y="2121408"/>
            <a:ext cx="548640" cy="45720"/>
          </a:xfrm>
          <a:prstGeom prst="rect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BIAI / PROJEKT </a:t>
            </a:r>
            <a:r>
              <a:rPr lang="pl-PL" sz="1400" b="1" kern="0" spc="6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Algorytm genetyczny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dla Zagadnienia Przydziału (AP)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4937760"/>
            <a:ext cx="5486400" cy="137160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457200" y="4937760"/>
            <a:ext cx="73152" cy="13716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AUTORZY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53492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Kajetan Hołdan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Karolina Kucab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17920" y="4937760"/>
            <a:ext cx="5486400" cy="137160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6217920" y="4937760"/>
            <a:ext cx="73152" cy="1371600"/>
          </a:xfrm>
          <a:prstGeom prst="rect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49224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PRZEDMIOT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53492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Biologically Inspired AI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Politechnika Śląska · 2026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640080" y="384048"/>
            <a:ext cx="109728" cy="109728"/>
          </a:xfrm>
          <a:prstGeom prst="ellipse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B026FF"/>
          </a:solidFill>
          <a:ln w="12700">
            <a:solidFill>
              <a:srgbClr val="B02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AGENDA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prezentacji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577840" cy="68580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4864" cy="6858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20574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3591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Czym jest Zagadnienie Przydziału (AP)?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5577840" cy="68580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54864" cy="685800"/>
          </a:xfrm>
          <a:prstGeom prst="rect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40080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40880" y="20574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Reprezentacja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40880" y="23591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Kodowanie chromosomu i funkcja fitness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16352"/>
            <a:ext cx="5577840" cy="68580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457200" y="2816352"/>
            <a:ext cx="54864" cy="685800"/>
          </a:xfrm>
          <a:prstGeom prst="rect">
            <a:avLst/>
          </a:prstGeom>
          <a:solidFill>
            <a:srgbClr val="B026FF"/>
          </a:solidFill>
          <a:ln w="12700">
            <a:solidFill>
              <a:srgbClr val="B02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640080" y="2889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80160" y="28620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31638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Konfiguracja PyGAD: selekcja, krzyżowanie, mutacja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816352"/>
            <a:ext cx="5577840" cy="68580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Shape 21"/>
          <p:cNvSpPr/>
          <p:nvPr/>
        </p:nvSpPr>
        <p:spPr>
          <a:xfrm>
            <a:off x="6217920" y="2816352"/>
            <a:ext cx="54864" cy="68580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6400800" y="2889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40880" y="28620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Powtarzalność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40880" y="31638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 ziarna losowości (seed)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621024"/>
            <a:ext cx="5577840" cy="68580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Shape 26"/>
          <p:cNvSpPr/>
          <p:nvPr/>
        </p:nvSpPr>
        <p:spPr>
          <a:xfrm>
            <a:off x="457200" y="3621024"/>
            <a:ext cx="54864" cy="6858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640080" y="3694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280160" y="3666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Wyniki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80160" y="39684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Zbieżność, koszt minimalny, wizualizacja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3621024"/>
            <a:ext cx="5577840" cy="68580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Shape 31"/>
          <p:cNvSpPr/>
          <p:nvPr/>
        </p:nvSpPr>
        <p:spPr>
          <a:xfrm>
            <a:off x="6217920" y="3621024"/>
            <a:ext cx="54864" cy="685800"/>
          </a:xfrm>
          <a:prstGeom prst="rect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6400800" y="3694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040880" y="3666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Wnioski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40880" y="39684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algorytm faktycznie znalazł i dlaczego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640080" y="384048"/>
            <a:ext cx="109728" cy="109728"/>
          </a:xfrm>
          <a:prstGeom prst="ellipse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B026FF"/>
          </a:solidFill>
          <a:ln w="12700">
            <a:solidFill>
              <a:srgbClr val="B02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01 ·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Zagadnienie Przydziału (AP)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852160" cy="420624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85216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Definicja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Mamy </a:t>
            </a: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zadań</a:t>
            </a: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</a:t>
            </a:r>
            <a:r>
              <a:rPr lang="en-US" sz="1400" b="1" dirty="0">
                <a:solidFill>
                  <a:srgbClr val="FF0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wykonawców</a:t>
            </a: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Każde zadanie musi zostać przypisane dokładnie jednemu wykonawcy, a każdy wykonawca otrzymuje dokładnie jedno zadanie.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Zminimalizować łączny koszt wykonania wszystkich zadań: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5303520" cy="777240"/>
          </a:xfrm>
          <a:prstGeom prst="rect">
            <a:avLst/>
          </a:prstGeom>
          <a:solidFill>
            <a:srgbClr val="0A0E27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400" b="1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</a:t>
            </a:r>
            <a:r>
              <a:rPr lang="en-US" sz="1800" i="1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k(i, f(i))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5440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f(i) — wykonawca przypisany zadaniu 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011680"/>
            <a:ext cx="5120640" cy="420624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6583680" y="2011680"/>
            <a:ext cx="5120640" cy="45720"/>
          </a:xfrm>
          <a:prstGeom prst="rect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685800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Nasza instancja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2606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WYMIAR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 zadań × 10 wykonawców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3383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MACIERZ KOSZTÓW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3611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k(i, j) ∈ {1, 2, …, 50}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4160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GENERACJA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4389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wartości losowe ze stałym ziarnem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4937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PRZESTRZEŃ ROZWIĄZAŃ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5166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10! = 3 628 800 permutacji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640080" y="384048"/>
            <a:ext cx="109728" cy="109728"/>
          </a:xfrm>
          <a:prstGeom prst="ellipse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B026FF"/>
          </a:solidFill>
          <a:ln w="12700">
            <a:solidFill>
              <a:srgbClr val="B02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· REPREZENTACJA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Chromosom i funkcja dopasowania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47120" cy="178308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Chromosom = permutacja indeksów wykonawców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5176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1188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3212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5236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37260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2788920"/>
            <a:ext cx="914400" cy="594360"/>
          </a:xfrm>
          <a:prstGeom prst="rect">
            <a:avLst/>
          </a:prstGeom>
          <a:solidFill>
            <a:srgbClr val="0A0E27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731520" y="27889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691640" y="2788920"/>
            <a:ext cx="914400" cy="594360"/>
          </a:xfrm>
          <a:prstGeom prst="rect">
            <a:avLst/>
          </a:prstGeom>
          <a:solidFill>
            <a:srgbClr val="0A0E27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1691640" y="27889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651760" y="2788920"/>
            <a:ext cx="914400" cy="594360"/>
          </a:xfrm>
          <a:prstGeom prst="rect">
            <a:avLst/>
          </a:prstGeom>
          <a:solidFill>
            <a:srgbClr val="0A0E27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2651760" y="27889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611880" y="2788920"/>
            <a:ext cx="914400" cy="594360"/>
          </a:xfrm>
          <a:prstGeom prst="rect">
            <a:avLst/>
          </a:prstGeom>
          <a:solidFill>
            <a:srgbClr val="0A0E27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3611880" y="27889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572000" y="2788920"/>
            <a:ext cx="914400" cy="594360"/>
          </a:xfrm>
          <a:prstGeom prst="rect">
            <a:avLst/>
          </a:prstGeom>
          <a:solidFill>
            <a:srgbClr val="0A0E27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4572000" y="27889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532120" y="2788920"/>
            <a:ext cx="914400" cy="594360"/>
          </a:xfrm>
          <a:prstGeom prst="rect">
            <a:avLst/>
          </a:prstGeom>
          <a:solidFill>
            <a:srgbClr val="0A0E27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5532120" y="27889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92240" y="2788920"/>
            <a:ext cx="914400" cy="594360"/>
          </a:xfrm>
          <a:prstGeom prst="rect">
            <a:avLst/>
          </a:prstGeom>
          <a:solidFill>
            <a:srgbClr val="0A0E27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6492240" y="27889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7452360" y="2788920"/>
            <a:ext cx="914400" cy="594360"/>
          </a:xfrm>
          <a:prstGeom prst="rect">
            <a:avLst/>
          </a:prstGeom>
          <a:solidFill>
            <a:srgbClr val="0A0E27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7452360" y="27889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8412480" y="2788920"/>
            <a:ext cx="914400" cy="594360"/>
          </a:xfrm>
          <a:prstGeom prst="rect">
            <a:avLst/>
          </a:prstGeom>
          <a:solidFill>
            <a:srgbClr val="0A0E27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8412480" y="27889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9372600" y="2788920"/>
            <a:ext cx="914400" cy="594360"/>
          </a:xfrm>
          <a:prstGeom prst="rect">
            <a:avLst/>
          </a:prstGeom>
          <a:solidFill>
            <a:srgbClr val="0A0E27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36"/>
          <p:cNvSpPr/>
          <p:nvPr/>
        </p:nvSpPr>
        <p:spPr>
          <a:xfrm>
            <a:off x="9372600" y="27889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31520" y="33832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wykonawca przypisany do zadania o danym indeksie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977640"/>
            <a:ext cx="5486400" cy="233172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Shape 39"/>
          <p:cNvSpPr/>
          <p:nvPr/>
        </p:nvSpPr>
        <p:spPr>
          <a:xfrm>
            <a:off x="457200" y="3977640"/>
            <a:ext cx="54864" cy="2331720"/>
          </a:xfrm>
          <a:prstGeom prst="rect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640080" y="4069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Funkcja dopasowania (fitness)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0080" y="44348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PyGAD domyślnie maksymalizuje fitness, a my chcemy </a:t>
            </a:r>
            <a:r>
              <a:rPr lang="en-US" sz="1100" dirty="0" err="1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minimalizować</a:t>
            </a: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</a:t>
            </a:r>
            <a:r>
              <a:rPr lang="pl-PL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więc</a:t>
            </a: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bierzemy odwrotność: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" y="5074920"/>
            <a:ext cx="5212080" cy="640080"/>
          </a:xfrm>
          <a:prstGeom prst="rect">
            <a:avLst/>
          </a:prstGeom>
          <a:solidFill>
            <a:srgbClr val="0A0E27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Text 43"/>
          <p:cNvSpPr/>
          <p:nvPr/>
        </p:nvSpPr>
        <p:spPr>
          <a:xfrm>
            <a:off x="640080" y="50749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fitness = </a:t>
            </a:r>
            <a:r>
              <a:rPr lang="en-US" sz="16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Σ k(i, f(i))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0080" y="5806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koszt maleje  ⇒  fitness rośnie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17920" y="3977640"/>
            <a:ext cx="5486400" cy="233172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Shape 46"/>
          <p:cNvSpPr/>
          <p:nvPr/>
        </p:nvSpPr>
        <p:spPr>
          <a:xfrm>
            <a:off x="6217920" y="3977640"/>
            <a:ext cx="54864" cy="2331720"/>
          </a:xfrm>
          <a:prstGeom prst="rect">
            <a:avLst/>
          </a:prstGeom>
          <a:solidFill>
            <a:srgbClr val="B026FF"/>
          </a:solidFill>
          <a:ln w="12700">
            <a:solidFill>
              <a:srgbClr val="B02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9" name="Text 47"/>
          <p:cNvSpPr/>
          <p:nvPr/>
        </p:nvSpPr>
        <p:spPr>
          <a:xfrm>
            <a:off x="6400800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Ograniczenie 1:1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400800" y="44348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wartość w chromosomie musi być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 err="1">
                <a:solidFill>
                  <a:srgbClr val="B02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Unikatowa</a:t>
            </a:r>
            <a:r>
              <a:rPr lang="pl-PL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ponieważ</a:t>
            </a: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 przeciwnym razie dwa zadania trafiłyby do tego samego wykonawcy.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0" y="5349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Rozwiązanie:  </a:t>
            </a:r>
            <a:r>
              <a:rPr lang="en-US" sz="1100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allow_duplicate_genes=False</a:t>
            </a: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11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 mutation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640080" y="384048"/>
            <a:ext cx="109728" cy="109728"/>
          </a:xfrm>
          <a:prstGeom prst="ellipse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B026FF"/>
          </a:solidFill>
          <a:ln w="12700">
            <a:solidFill>
              <a:srgbClr val="B02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· ALGORYTM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Konfiguracja GA — biblioteka PyGAD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788920" cy="141732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78892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594360" y="21762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POPULACJA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3957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osobników w populacji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2011680"/>
            <a:ext cx="2788920" cy="141732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3337560" y="2011680"/>
            <a:ext cx="2788920" cy="45720"/>
          </a:xfrm>
          <a:prstGeom prst="rect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3474720" y="21762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POKOLENIA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23957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474720" y="3017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iteracji ewolucji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011680"/>
            <a:ext cx="2788920" cy="141732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6217920" y="2011680"/>
            <a:ext cx="2788920" cy="45720"/>
          </a:xfrm>
          <a:prstGeom prst="rect">
            <a:avLst/>
          </a:prstGeom>
          <a:solidFill>
            <a:srgbClr val="B026FF"/>
          </a:solidFill>
          <a:ln w="12700">
            <a:solidFill>
              <a:srgbClr val="B02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6355080" y="21762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RODZICE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55080" y="23957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355080" y="3017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krzyżowania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98280" y="2011680"/>
            <a:ext cx="2788920" cy="141732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Shape 21"/>
          <p:cNvSpPr/>
          <p:nvPr/>
        </p:nvSpPr>
        <p:spPr>
          <a:xfrm>
            <a:off x="9098280" y="2011680"/>
            <a:ext cx="2788920" cy="457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9235440" y="21762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ELITARYZM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235440" y="23957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9235440" y="3017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rodziców przechodzi bez zmian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520440"/>
            <a:ext cx="2788920" cy="141732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278892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594360" y="36850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SELEKCJA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90448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SSS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594360" y="4526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Selection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3520440"/>
            <a:ext cx="2788920" cy="141732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Shape 31"/>
          <p:cNvSpPr/>
          <p:nvPr/>
        </p:nvSpPr>
        <p:spPr>
          <a:xfrm>
            <a:off x="3337560" y="3520440"/>
            <a:ext cx="2788920" cy="45720"/>
          </a:xfrm>
          <a:prstGeom prst="rect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3474720" y="36850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KRZYŻOWANIE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74720" y="390448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1-pkt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3474720" y="4526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single-point crossover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3520440"/>
            <a:ext cx="2788920" cy="141732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Shape 36"/>
          <p:cNvSpPr/>
          <p:nvPr/>
        </p:nvSpPr>
        <p:spPr>
          <a:xfrm>
            <a:off x="6217920" y="3520440"/>
            <a:ext cx="2788920" cy="45720"/>
          </a:xfrm>
          <a:prstGeom prst="rect">
            <a:avLst/>
          </a:prstGeom>
          <a:solidFill>
            <a:srgbClr val="B026FF"/>
          </a:solidFill>
          <a:ln w="12700">
            <a:solidFill>
              <a:srgbClr val="B02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6355080" y="36850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MUTACJA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55080" y="390448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6355080" y="4526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zamiana dwóch genów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98280" y="3520440"/>
            <a:ext cx="2788920" cy="141732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Shape 41"/>
          <p:cNvSpPr/>
          <p:nvPr/>
        </p:nvSpPr>
        <p:spPr>
          <a:xfrm>
            <a:off x="9098280" y="3520440"/>
            <a:ext cx="2788920" cy="457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Text 42"/>
          <p:cNvSpPr/>
          <p:nvPr/>
        </p:nvSpPr>
        <p:spPr>
          <a:xfrm>
            <a:off x="9235440" y="36850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MUTACJI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235440" y="390448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3200" dirty="0"/>
          </a:p>
        </p:txBody>
      </p:sp>
      <p:sp>
        <p:nvSpPr>
          <p:cNvPr id="46" name="Text 44"/>
          <p:cNvSpPr/>
          <p:nvPr/>
        </p:nvSpPr>
        <p:spPr>
          <a:xfrm>
            <a:off x="9235440" y="4526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prawdopodobieństwo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5074920"/>
            <a:ext cx="11247120" cy="123444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Shape 46"/>
          <p:cNvSpPr/>
          <p:nvPr/>
        </p:nvSpPr>
        <p:spPr>
          <a:xfrm>
            <a:off x="457200" y="5074920"/>
            <a:ext cx="54864" cy="12344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9" name="Text 47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Dlaczego takie operatory?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31520" y="5440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0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Mutacja swap </a:t>
            </a: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zachowuje permutację (nie tworzy duplikatów wykonawców).   </a:t>
            </a:r>
            <a:r>
              <a:rPr lang="en-US" sz="1100" b="1" dirty="0">
                <a:solidFill>
                  <a:srgbClr val="FF0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Selekcja SSS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pl-PL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stabilna, dobre osobniki przeżywają między pokoleniami.   </a:t>
            </a:r>
            <a:r>
              <a:rPr lang="en-US" sz="1100" b="1" dirty="0">
                <a:solidFill>
                  <a:srgbClr val="FF0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Elitaryzm = 2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pl-PL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gwarantuje, że nigdy nie tracimy najlepszego znalezionego rozwiązania.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640080" y="384048"/>
            <a:ext cx="109728" cy="109728"/>
          </a:xfrm>
          <a:prstGeom prst="ellipse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B026FF"/>
          </a:solidFill>
          <a:ln w="12700">
            <a:solidFill>
              <a:srgbClr val="B02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04 · POWTARZALNOŚĆ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Ziarno losowości — SEED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029200" cy="429768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029200" cy="457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WARTOŚĆ ZIARNA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60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= 42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5349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identyczny wynik za każdym uruchomieniem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760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(klasyczna referencja: Hitchhiker's Guide ;)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2011680"/>
            <a:ext cx="5943600" cy="205740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5760720" y="2011680"/>
            <a:ext cx="54864" cy="20574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5943600" y="21031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Gdzie ustawiamy seed w kodzie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2468880"/>
            <a:ext cx="5577840" cy="1463040"/>
          </a:xfrm>
          <a:prstGeom prst="rect">
            <a:avLst/>
          </a:prstGeom>
          <a:solidFill>
            <a:srgbClr val="0A0E27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6126480" y="2542032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= 42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np.random.seed(SEED)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cost_matrix = np.random.randint(1, 51, …)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64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inicjalizacja populacji w PyGAD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A64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korzysta z tego samego stanu numpy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4160520"/>
            <a:ext cx="5943600" cy="214884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5760720" y="4160520"/>
            <a:ext cx="54864" cy="2148840"/>
          </a:xfrm>
          <a:prstGeom prst="rect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5943600" y="42519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Dlaczego to ważne?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0" y="4526280"/>
            <a:ext cx="5577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Macierz</a:t>
            </a: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kosztów</a:t>
            </a:r>
            <a:r>
              <a:rPr lang="pl-PL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 sam SEED daje tę samą instancję problemu, więc wyniki da się porównać między uruchomieniami.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Populacja</a:t>
            </a: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startowa</a:t>
            </a:r>
            <a:r>
              <a:rPr lang="pl-PL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 ma element losowy (inicjalizacja, krzyżowanie, mutacja). Bez seeda każde uruchomienie daje inną trajektorię zbieżności.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0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Reprodukowalność </a:t>
            </a: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podstawa rzetelnego eksperymentu naukowego.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640080" y="384048"/>
            <a:ext cx="109728" cy="109728"/>
          </a:xfrm>
          <a:prstGeom prst="ellipse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B026FF"/>
          </a:solidFill>
          <a:ln w="12700">
            <a:solidFill>
              <a:srgbClr val="B02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05 · WYNIKI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Trzy spojrzenia na to samo działanie algorytmu</a:t>
            </a:r>
            <a:endParaRPr lang="en-US" sz="3000" dirty="0"/>
          </a:p>
        </p:txBody>
      </p:sp>
      <p:pic>
        <p:nvPicPr>
          <p:cNvPr id="7" name="Image 0" descr="/home/claude/wynik_cyberpun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828800"/>
            <a:ext cx="1124712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852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3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</a:t>
            </a:r>
            <a:r>
              <a:rPr lang="en-US" sz="1300" b="1" dirty="0" err="1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rośnie</a:t>
            </a: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pl-PL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 ~0.0114 i się stabilizuje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51960" y="5852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3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</a:t>
            </a:r>
            <a:r>
              <a:rPr lang="en-US" sz="1300" b="1" dirty="0" err="1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spada</a:t>
            </a: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pl-PL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ze ~1</a:t>
            </a:r>
            <a:r>
              <a:rPr lang="pl-PL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87 (~</a:t>
            </a:r>
            <a:r>
              <a:rPr lang="pl-PL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redukcji)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0" y="5852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3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Optymalny </a:t>
            </a:r>
            <a:r>
              <a:rPr lang="en-US" sz="1300" b="1" dirty="0" err="1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przydział</a:t>
            </a: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pl-PL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trafia w </a:t>
            </a:r>
            <a:r>
              <a:rPr lang="pl-PL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ciemne</a:t>
            </a: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pola macierzy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640080" y="384048"/>
            <a:ext cx="109728" cy="109728"/>
          </a:xfrm>
          <a:prstGeom prst="ellipse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B026FF"/>
          </a:solidFill>
          <a:ln w="12700">
            <a:solidFill>
              <a:srgbClr val="B02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05 · WYNIKI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Najlepsze znalezione rozwiązanie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486400" cy="429768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4864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MINIMALNY KOSZT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87.0</a:t>
            </a:r>
            <a:endParaRPr lang="en-US" sz="13000" dirty="0"/>
          </a:p>
        </p:txBody>
      </p:sp>
      <p:sp>
        <p:nvSpPr>
          <p:cNvPr id="11" name="Text 9"/>
          <p:cNvSpPr/>
          <p:nvPr/>
        </p:nvSpPr>
        <p:spPr>
          <a:xfrm>
            <a:off x="640080" y="5257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kosztów po przydziale 10 zadań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669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Spadek z </a:t>
            </a:r>
            <a:r>
              <a:rPr lang="en-US" sz="1100" b="1" dirty="0">
                <a:solidFill>
                  <a:srgbClr val="FF0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pl-PL" sz="1100" b="1" dirty="0">
                <a:solidFill>
                  <a:srgbClr val="FF0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(start)  →  </a:t>
            </a: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≈  </a:t>
            </a:r>
            <a:r>
              <a:rPr lang="en-US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r>
              <a:rPr lang="pl-PL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r>
              <a:rPr lang="en-US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5486400" cy="429768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5486400" cy="45720"/>
          </a:xfrm>
          <a:prstGeom prst="rect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PRZYDZIAŁ ZADAŃ → WYKONAWCÓW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6060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78040" y="26060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9520" y="2606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wyk. 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9535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78040" y="29535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89520" y="29535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wyk. 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30098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78040" y="33009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89520" y="33009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wyk. 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364845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78040" y="36484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36484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wyk. 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399592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78040" y="39959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89520" y="3995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wyk. 8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961120" y="26060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738360" y="26060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149840" y="2606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wyk. 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61120" y="29535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738360" y="29535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149840" y="29535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wyk. 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961120" y="330098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738360" y="33009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149840" y="33009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wyk. 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961120" y="364845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738360" y="36484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149840" y="36484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wyk. 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961120" y="399592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zad. 9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738360" y="39959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149840" y="3995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wyk. 7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00800" y="5120640"/>
            <a:ext cx="5120640" cy="1097280"/>
          </a:xfrm>
          <a:prstGeom prst="rect">
            <a:avLst/>
          </a:prstGeom>
          <a:solidFill>
            <a:srgbClr val="0A0E27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7" name="Text 45"/>
          <p:cNvSpPr/>
          <p:nvPr/>
        </p:nvSpPr>
        <p:spPr>
          <a:xfrm>
            <a:off x="6537960" y="5212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Walidacja: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37960" y="5486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z 10 wykonawców występuje </a:t>
            </a:r>
            <a:r>
              <a:rPr lang="en-US" sz="1100" dirty="0" err="1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dokładnie</a:t>
            </a: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</a:t>
            </a:r>
            <a:r>
              <a:rPr lang="pl-PL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więc</a:t>
            </a:r>
            <a:r>
              <a:rPr lang="en-US" sz="11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rozwiązanie jest poprawną permutacją.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640080" y="384048"/>
            <a:ext cx="109728" cy="109728"/>
          </a:xfrm>
          <a:prstGeom prst="ellipse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822960" y="384048"/>
            <a:ext cx="109728" cy="109728"/>
          </a:xfrm>
          <a:prstGeom prst="ellipse">
            <a:avLst/>
          </a:prstGeom>
          <a:solidFill>
            <a:srgbClr val="B026FF"/>
          </a:solidFill>
          <a:ln w="12700">
            <a:solidFill>
              <a:srgbClr val="B02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06 · WNIOSKI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 algorytm pokazał?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577840" cy="210312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4864" cy="21031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Szybka zbieżność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 znajduje stabilne rozwiązanie już w pierwszych ~15 pokoleniach. Dalsze 185 pokoleń nie poprawia wyniku → możliwa optymalizacja: warunek wczesnego stopu (early stopping).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5577840" cy="210312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54864" cy="2103120"/>
          </a:xfrm>
          <a:prstGeom prst="rect">
            <a:avLst/>
          </a:prstGeom>
          <a:solidFill>
            <a:srgbClr val="FF0055"/>
          </a:solidFill>
          <a:ln w="12700">
            <a:solidFill>
              <a:srgbClr val="FF00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446520" y="2194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0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22376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Eksploracja vs. eksploatacja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278892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3,6 mln możliwych permutacji algorytm sprawdził ułamek przestrzeni i mimo to znalazł rozwiązanie bardzo bliskie </a:t>
            </a:r>
            <a:r>
              <a:rPr lang="en-US" sz="1100" dirty="0" err="1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optymalnemu</a:t>
            </a: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pokazuje siłę kierowanego przeszukiwania.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5577840" cy="210312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54864" cy="2103120"/>
          </a:xfrm>
          <a:prstGeom prst="rect">
            <a:avLst/>
          </a:prstGeom>
          <a:solidFill>
            <a:srgbClr val="B026FF"/>
          </a:solidFill>
          <a:ln w="12700">
            <a:solidFill>
              <a:srgbClr val="B02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685800" y="4480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63040" y="4526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 mają znaczenie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" y="507492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mutacji typu swap (a nie zwykłej losowej) </a:t>
            </a:r>
            <a:r>
              <a:rPr lang="en-US" sz="1100" dirty="0" err="1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był</a:t>
            </a: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kluczowy</a:t>
            </a:r>
            <a:r>
              <a:rPr lang="pl-PL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ponieważ</a:t>
            </a: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tylko ona zachowuje strukturę permutacji. Dla innego problemu trzeba dobrać inne operatory.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297680"/>
            <a:ext cx="5577840" cy="2103120"/>
          </a:xfrm>
          <a:prstGeom prst="rect">
            <a:avLst/>
          </a:prstGeom>
          <a:solidFill>
            <a:srgbClr val="121833"/>
          </a:solidFill>
          <a:ln w="12700">
            <a:solidFill>
              <a:srgbClr val="1F2A4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Shape 21"/>
          <p:cNvSpPr/>
          <p:nvPr/>
        </p:nvSpPr>
        <p:spPr>
          <a:xfrm>
            <a:off x="6217920" y="4297680"/>
            <a:ext cx="54864" cy="21031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6446520" y="4480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223760" y="4526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Reprodukowalność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46520" y="5074920"/>
            <a:ext cx="5166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Stały SEED = 42 zapewnia, że wynik jest </a:t>
            </a:r>
            <a:r>
              <a:rPr lang="en-US" sz="1100" dirty="0" err="1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powtarzalny</a:t>
            </a: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fundament rzetelnego eksperymentu i porównywania konfiguracji.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2060</Words>
  <Application>Microsoft Office PowerPoint</Application>
  <PresentationFormat>Panoramiczny</PresentationFormat>
  <Paragraphs>212</Paragraphs>
  <Slides>9</Slides>
  <Notes>9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BIAI — Algorytm Genetyczny dla Zagadnienia Przydziału</dc:title>
  <dc:subject>PptxGenJS Presentation</dc:subject>
  <dc:creator>Kajetan Hołdan, Karolina Kucab</dc:creator>
  <cp:lastModifiedBy>Kajetan Hołdan</cp:lastModifiedBy>
  <cp:revision>3</cp:revision>
  <dcterms:created xsi:type="dcterms:W3CDTF">2026-05-09T14:31:14Z</dcterms:created>
  <dcterms:modified xsi:type="dcterms:W3CDTF">2026-05-10T10:31:54Z</dcterms:modified>
</cp:coreProperties>
</file>